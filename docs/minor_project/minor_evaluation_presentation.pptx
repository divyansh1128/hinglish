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e2b00c-e197-1407-5461-3359d21442e1}">
          <p14:sldIdLst>
            <p14:sldId id="256"/>
            <p14:sldId id="257"/>
            <p14:sldId id="258"/>
          </p14:sldIdLst>
        </p14:section>
        <p14:section name="Data and protocol" id="{e12b8376-9373-bd80-17f1-55840647ec2d}">
          <p14:sldIdLst>
            <p14:sldId id="259"/>
            <p14:sldId id="260"/>
            <p14:sldId id="261"/>
          </p14:sldIdLst>
        </p14:section>
        <p14:section name="Development evidence" id="{0a1f5d3f-c990-f102-10a9-6fd999ff07fa}">
          <p14:sldIdLst>
            <p14:sldId id="262"/>
            <p14:sldId id="263"/>
          </p14:sldIdLst>
        </p14:section>
        <p14:section name="Pilot-B results" id="{2306b255-b38b-e90e-42e8-daf80399bede}">
          <p14:sldIdLst>
            <p14:sldId id="264"/>
            <p14:sldId id="265"/>
            <p14:sldId id="266"/>
            <p14:sldId id="267"/>
            <p14:sldId id="268"/>
          </p14:sldIdLst>
        </p14:section>
        <p14:section name="Original-pilot results" id="{fb14dc11-6035-a775-caec-5c7fd324bd39}">
          <p14:sldIdLst>
            <p14:sldId id="269"/>
          </p14:sldIdLst>
        </p14:section>
        <p14:section name="Limitations and plan" id="{1c0d00c7-2d58-3be6-a3e0-5c95ab11b9a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One sentence on the question: the same maths in three language forms (English, Romanized Hindi, Hinglish) - does the answer change? Headline we will defend: holding the maths fixed, small models lose accuracy on Romanized Hindi rather than on code-mixing, by a strongly model-specific amount, and answer formats must be checked on excluded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Read the three forms aloud and stress that only the language changes. Indian users mix Hindi and English in Roman script, but benchmarks are mostly English or Devanagari. Unrelated English and Hinglish questions cannot separate the possible causes of a drop (vocabulary, spelling, mixing, wording, or the evaluation protocol). Holding the maths fixed can: one problem, three renderings, gold computed in code, and every analysis paired by family. C is insertional Hinglish (Hindi grammar with English nouns, verbs and relation words), the definition adopted after review (D033).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RQ1 is this phase: does an unchanged model's accuracy differ across E, R and C? RQ2 and RQ3 are the major phase: does E+C training beat matched E+R training on held-out C, and what about transfer and English retention? Be explicit that we do not claim the gap as a discovery: MGSM, Anand et al., CodeMixBench, Indi-RomCoM, Sarvam-M and CodeMixTax already show Romanized or code-mixed drops. Our contributions are a format-measurement caution, a paired reviewed E/R/C resource with operation-word balance, and a pre-registered diagnostic pilot; the controlled training comparison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70 + 100 + 40 + 160 = 370 frozen families, all hashed on 16 October; FINAL_TEST stays untouched until the one confirmatory evaluation. Every item was solved blind by two LLMs: Pilot-B 210/210 (and 15/15 revised renderings); Phase 2 Claude 900/900 and GPT 897/900, the misses all one family and a GPT error. No Qwen model ever drafted, solved or checked items. Review finding: GPT-drafted Romanized Hindi was over-formal (68/100 FINAL_TEST families needed repair, against 13/70 for Claude-drafted Pilot-B); this is descriptive and confounded with the split. C was redefined as insertional Hinglish after review (D033).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Be precise about provenance. D038: the English statements of the original 30 families were written by the author; R and C were AI-translated with OpenAI GPT via Codex and then human-reviewed (the 10 October AI_DRAFT metadata is mistaken for E; frozen files unchanged). The maths was solved independently by two humans. D037: R01's stage-2 file marks 70/90 renderings as unverified AI-prefill suggestions, so the language review is one human (R02) plus adjudicator A01, and R01's AI-prefilled judgments are excluded from human-review claims and agreement statistics; the pre-registration was amended before any cohort output. D036: the cohort is the 24 families accepted by A01 without repair; PIL010 is a near-duplicate and five repaired families lack an independent re-review. The original pilot keeps its own C definition, so it is reported separately and never pooled.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Frozen data goes into a Colab T4 notebook: NF4 4-bit weights, FP16, greedy decoding, thinking off, 1,024 new tokens, fresh context per prompt. Outputs go to an append-only journal with resume; the pipeline refuses to resume after any code, data or config change. The strict scorer v1.0.0 is primary, numeric_literal_v1 secondary, and every run's results ZIP hash is recorded. One English instruction (prompt v2) for all forms and models. Wilson 95% intervals, paired differences with 10,000 family-bootstrap resamples. The analysis plan was pre-registered before any Pilot-B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Development evidence on excluded fixtures, not evaluation data. With prompt v1, 10 of 36 fixture prompts failed on format, for example FINAL: 8 unitless after a correct dimensionless answer; with v2, 0 of 36. Strict correct went from 9/7/9 to 12/10/12 of 12, and R explanations in Devanagari from 8/12 to 0/12. This was one disclosed prompt revision (D020), frozen before any pilot output. The fixtures also changed slightly, so 10 to 0 is a development comparison, not an isolated prompt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Development evidence. Within Qwen3, instruction following broke before maths did: Qwen3-1.7B echoed the instruction on all 36. Phi-4-mini put FINAL inline and repeated itself in R; Granite added commentary after FINAL; Gemma-3-4B produced no outputs because of a CUDA error under FP16. The pre-declared rule (at most 3/36 strict-invalid, no per-model tuning) left three backbones. Without this screen, a multi-model comparison would mostly measure formatting. The bhaag/bhinn idea - Qwen3-4B's two remaining errors were R misreadings of bhaag (divide) and bhinn (fraction or 'different'), and Llama gave the same wrong answer on the bhinn item - is a hypothesis from n = 2 unreviewed items; slide 11 tests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70 families times 3 forms = 210 prompts per model; all three runs are complete (210/210) and checksum-verified, with no refusals. R is the lowest bar for every model: Qwen3-4B 94.3 / 85.7 / 94.3 percent, Qwen3-8B 98.6 / 91.4 / 98.6, Llama-3.2-3B 94.3 / 57.1 / 70.0. This is single-reviewer data (D035) and a diagnostic sample of 70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Each cell is the paired difference in percentage points with its 95% bootstrap interval, and the discordant families (first form correct only / second form correct only). For Qwen the E-R intervals cross or touch zero, so call the R deficit modest; for Qwen3-4B the R-C interval excludes zero (C better in 7 families, R in 1). For Llama the R deficit is 37 points and C sits in between. Headline: Romanized Hindi, not code-mixing, is the hard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An honest null: the development hypothesis from slide 8 does not explain the gap. R accuracy is similar whether C keeps R's Hindi operation word (18 families), switches it to English (17), or there is no Hindi operation word (35): Qwen3-4B 89, 82, 86 percent; Qwen3-8B 94, 94, 89; Llama 67, 59, 51. Many Llama R errors are plain arithmetic slips, for example PB017: 1200 minus 3 times 265 is 405, Llama answered 435. Strata are small and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the pre-registered audit endpoint (endpoint 6) for the primary backbone. Of Qwen3-4B's 18 strict failures, 6 are format-only, so 12 are substantive errors: E 1, R 8, C 3. Explanations follow the English instruction on 70/70 E, 53/70 R and 59/70 C outputs, so R also drifts most in language. Method: Claude and GPT tagged all 210 outputs independently and blind to each other (kappa 0.94 for error category, 0.96 for English compliance). A human checked the 4 disagreements plus 20 seeded random agreed rows; the human agreed with tagger A on 22/24 and tagger B on 21/24. The coordinator did the human check. So the labels are AI pre-tags, human-checked on disagreements and a sample. It audits model outputs, not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Format problems shrink but do not vanish after the prompt fix. For Llama the numeric endpoint agrees with strict on all 210, so its gaps are not formatting. For Qwen3-4B, 3 of 4 E failures are correct values with unlisted unit phrases and 1 C failure is the spelling 300 rupye: together 4 strict points. The secondary numeric endpoint has a specification gap: a trailing rupee symbol explains every strict-correct, numeric-fail case (30 for Qwen3-4B, 36 for Qwen3-8B); we report it as pre-registered rather than correcting it post hoc. Exploratory and not pre-registered: Llama explains in Romanized-Hindi prose on 60/70 R and 27/70 C outputs, and on C those answers are correct 48% of the time against 84% for English explanations. This is observational; harder items may trigger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24-family original cohort was run under the same frozen protocol: all runs complete (72/72), checksums verified, zero strict-invalid outputs. Accuracies E / R / C: Qwen3-4B 100.0 / 91.7 / 100.0; Qwen3-8B 100.0 / 95.8 / 100.0; Llama-3.2-3B 87.5 / 62.5 / 91.7. The pre-specified comparison with Pilot-B is descriptive, with no pooling and no tests: the direction replicates for every model, R lowest and C at or near E. Qwen is near ceiling here because the items are easier. Llama's R deficit replicates (Pilot-B E-R +37.1, cohort +25.0), and here C matches E for Llama too (Pilot-B C was 70.0%). Zero-width intervals at ceiling are not evidence of population equivalence. Provenance as on slide 5: E by the author, R and C GPT-translated then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Emphasise what the evidence does not show: no causal mechanism and no training result yet. The samples are diagnostic (70 Pilot-B and 24 original-cohort families, strata of 17 to 35). Review is thin: one bilingual reviewer for Pilot-B and FINAL_TEST, TRAIN/DEV only sample-reviewed, and the original pilot's language review is one human plus an adjudicator after excluding R01's AI-prefilled judgments. Items are AI-drafted: Claude drafted and solved Pilot-B; the original pilot's R and C were GPT-translated. Models are small, 4-bit, greedy and non-thinking, and format screening excluded 4 of 7. There is no Devanagari arm, so the R gap mixes script, vocabulary, register and spelling, and contamination cannot be audited. The output audit covers the primary backbone and is AI pre-tagged with a human check on 24 of 210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Done: Pilot-B with three models (210/210 each), the original 24-family cohort with three models (72/72 each), and the Qwen3-4B output audit. The paper 'Romanized Hindi Is Harder Than Hinglish: A Scoring-Aware Audit of Small LLMs' was submitted on 26 October to the EACL 2027 Student Research Workshop pre-submission mentorship on OpenReview, Submission #12, under CC BY 4.0. Mentor feedback is due 5 December; the final paper needs a new submission to the SRW track by 15 December 2026. Then: December-January, a T4 training feasibility smoke test and a second-annotator sample; February-March, E+E / E+R / E+C fine-tuning on frozen TRAIN/DEV and one confirmatory run on FINAL_TEST; April-May, analysis, thesis, and the training study for ARR May 2027 (date unconfirmed). Close on the headline: holding the maths fixed, small models lose accuracy on Romanized Hindi rather than on code-mixing, by a strongly model-specific amount, and answer formats must be checked on excluded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F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371600"/>
            <a:ext cx="11185855" cy="18288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rtlCol="0"/>
          <a:lstStyle>
            <a:lvl1pPr algn="l" indent="0" marL="0">
              <a:buNone/>
              <a:defRPr lang="en-US" sz="3000" b="1" dirty="0">
                <a:solidFill>
                  <a:srgbClr val="1F2F4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1371600"/>
            <a:ext cx="11185855" cy="18288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Romanized Hindi Is Harder Than Hinglish: A Scoring-Aware Audit of Small LLMs</a:t>
            </a:r>
            <a:endParaRPr lang="en-US" sz="4000" dirty="0"/>
          </a:p>
        </p:txBody>
      </p:sp>
      <p:sp>
        <p:nvSpPr>
          <p:cNvPr id="3" name="Text 1"/>
          <p:cNvSpPr txBox="1"/>
          <p:nvPr/>
        </p:nvSpPr>
        <p:spPr>
          <a:xfrm>
            <a:off x="502920" y="3383280"/>
            <a:ext cx="9601200" cy="822960"/>
          </a:xfrm>
          <a:prstGeom prst="rect">
            <a:avLst/>
          </a:prstGeom>
          <a:noFill/>
          <a:ln/>
        </p:spPr>
        <p:txBody>
          <a:bodyPr wrap="square" lIns="0" tIns="0" rIns="0" bIns="0" rtlCol="0" anchor="ctr"/>
          <a:lstStyle/>
          <a:p>
            <a:pPr indent="0" marL="0">
              <a:buNone/>
            </a:pPr>
            <a:r>
              <a:rPr lang="en-US" sz="2200" i="1" dirty="0">
                <a:solidFill>
                  <a:srgbClr val="CADCFC"/>
                </a:solidFill>
              </a:rPr>
              <a:t>Hinglish mathematical reasoning in LLMs: does the language form of a maths problem change the answer?</a:t>
            </a:r>
            <a:endParaRPr lang="en-US" sz="2200" dirty="0"/>
          </a:p>
        </p:txBody>
      </p:sp>
      <p:sp>
        <p:nvSpPr>
          <p:cNvPr id="4" name="Text 2"/>
          <p:cNvSpPr txBox="1"/>
          <p:nvPr/>
        </p:nvSpPr>
        <p:spPr>
          <a:xfrm>
            <a:off x="502920" y="4297680"/>
            <a:ext cx="9144000" cy="457200"/>
          </a:xfrm>
          <a:prstGeom prst="rect">
            <a:avLst/>
          </a:prstGeom>
          <a:noFill/>
          <a:ln/>
        </p:spPr>
        <p:txBody>
          <a:bodyPr wrap="square" lIns="0" tIns="0" rIns="0" bIns="0" rtlCol="0" anchor="ctr"/>
          <a:lstStyle/>
          <a:p>
            <a:pPr indent="0" marL="0">
              <a:buNone/>
            </a:pPr>
            <a:r>
              <a:rPr lang="en-US" sz="2000" dirty="0">
                <a:solidFill>
                  <a:srgbClr val="FFFFFF"/>
                </a:solidFill>
              </a:rPr>
              <a:t>Minor project evaluation, November 2026</a:t>
            </a:r>
            <a:endParaRPr lang="en-US" sz="2000" dirty="0"/>
          </a:p>
        </p:txBody>
      </p:sp>
      <p:sp>
        <p:nvSpPr>
          <p:cNvPr id="5" name="Text 3"/>
          <p:cNvSpPr txBox="1"/>
          <p:nvPr/>
        </p:nvSpPr>
        <p:spPr>
          <a:xfrm>
            <a:off x="502920" y="4983480"/>
            <a:ext cx="6400800" cy="1188720"/>
          </a:xfrm>
          <a:prstGeom prst="rect">
            <a:avLst/>
          </a:prstGeom>
          <a:noFill/>
          <a:ln/>
        </p:spPr>
        <p:txBody>
          <a:bodyPr wrap="square" lIns="0" tIns="0" rIns="0" bIns="0" rtlCol="0" anchor="t"/>
          <a:lstStyle/>
          <a:p>
            <a:pPr indent="0" marL="0">
              <a:spcAft>
                <a:spcPts val="400"/>
              </a:spcAft>
              <a:buNone/>
            </a:pPr>
            <a:r>
              <a:rPr lang="en-US" sz="1800" dirty="0">
                <a:solidFill>
                  <a:srgbClr val="FFFFFF"/>
                </a:solidFill>
              </a:rPr>
              <a:t>Student name:  ____________________</a:t>
            </a:r>
            <a:endParaRPr lang="en-US" sz="1800" dirty="0"/>
          </a:p>
          <a:p>
            <a:pPr indent="0" marL="0">
              <a:spcAft>
                <a:spcPts val="400"/>
              </a:spcAft>
              <a:buNone/>
            </a:pPr>
            <a:r>
              <a:rPr lang="en-US" sz="1800" dirty="0">
                <a:solidFill>
                  <a:srgbClr val="FFFFFF"/>
                </a:solidFill>
              </a:rPr>
              <a:t>Roll number:  ____________________</a:t>
            </a:r>
            <a:endParaRPr lang="en-US" sz="1800" dirty="0"/>
          </a:p>
          <a:p>
            <a:pPr indent="0" marL="0">
              <a:spcAft>
                <a:spcPts val="400"/>
              </a:spcAft>
              <a:buNone/>
            </a:pPr>
            <a:r>
              <a:rPr lang="en-US" sz="1800" dirty="0">
                <a:solidFill>
                  <a:srgbClr val="FFFFFF"/>
                </a:solidFill>
              </a:rPr>
              <a:t>Supervisor:  ____________________</a:t>
            </a:r>
            <a:endParaRPr lang="en-US" sz="1800" dirty="0"/>
          </a:p>
        </p:txBody>
      </p:sp>
      <p:sp>
        <p:nvSpPr>
          <p:cNvPr id="6" name="Shape 4"/>
          <p:cNvSpPr/>
          <p:nvPr/>
        </p:nvSpPr>
        <p:spPr>
          <a:xfrm>
            <a:off x="9585655" y="5257800"/>
            <a:ext cx="594360" cy="594360"/>
          </a:xfrm>
          <a:prstGeom prst="ellipse">
            <a:avLst/>
          </a:prstGeom>
          <a:solidFill>
            <a:srgbClr val="0072B2"/>
          </a:solidFill>
          <a:ln w="12700">
            <a:solidFill>
              <a:srgbClr val="0072B2"/>
            </a:solidFill>
            <a:prstDash val="solid"/>
          </a:ln>
        </p:spPr>
      </p:sp>
      <p:sp>
        <p:nvSpPr>
          <p:cNvPr id="7" name="Text 5"/>
          <p:cNvSpPr txBox="1"/>
          <p:nvPr/>
        </p:nvSpPr>
        <p:spPr>
          <a:xfrm>
            <a:off x="9585655" y="52578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E</a:t>
            </a:r>
            <a:endParaRPr lang="en-US" sz="2000" dirty="0"/>
          </a:p>
        </p:txBody>
      </p:sp>
      <p:sp>
        <p:nvSpPr>
          <p:cNvPr id="8" name="Shape 6"/>
          <p:cNvSpPr/>
          <p:nvPr/>
        </p:nvSpPr>
        <p:spPr>
          <a:xfrm>
            <a:off x="10362895" y="5257800"/>
            <a:ext cx="594360" cy="594360"/>
          </a:xfrm>
          <a:prstGeom prst="ellipse">
            <a:avLst/>
          </a:prstGeom>
          <a:solidFill>
            <a:srgbClr val="E69F00"/>
          </a:solidFill>
          <a:ln w="12700">
            <a:solidFill>
              <a:srgbClr val="E69F00"/>
            </a:solidFill>
            <a:prstDash val="solid"/>
          </a:ln>
        </p:spPr>
      </p:sp>
      <p:sp>
        <p:nvSpPr>
          <p:cNvPr id="9" name="Text 7"/>
          <p:cNvSpPr txBox="1"/>
          <p:nvPr/>
        </p:nvSpPr>
        <p:spPr>
          <a:xfrm>
            <a:off x="10362895" y="52578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R</a:t>
            </a:r>
            <a:endParaRPr lang="en-US" sz="2000" dirty="0"/>
          </a:p>
        </p:txBody>
      </p:sp>
      <p:sp>
        <p:nvSpPr>
          <p:cNvPr id="10" name="Shape 8"/>
          <p:cNvSpPr/>
          <p:nvPr/>
        </p:nvSpPr>
        <p:spPr>
          <a:xfrm>
            <a:off x="11140135" y="5257800"/>
            <a:ext cx="594360" cy="594360"/>
          </a:xfrm>
          <a:prstGeom prst="ellipse">
            <a:avLst/>
          </a:prstGeom>
          <a:solidFill>
            <a:srgbClr val="009E73"/>
          </a:solidFill>
          <a:ln w="12700">
            <a:solidFill>
              <a:srgbClr val="009E73"/>
            </a:solidFill>
            <a:prstDash val="solid"/>
          </a:ln>
        </p:spPr>
      </p:sp>
      <p:sp>
        <p:nvSpPr>
          <p:cNvPr id="11" name="Text 9"/>
          <p:cNvSpPr txBox="1"/>
          <p:nvPr/>
        </p:nvSpPr>
        <p:spPr>
          <a:xfrm>
            <a:off x="11140135" y="52578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C</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Same maths, three language forms</a:t>
            </a:r>
            <a:endParaRPr lang="en-US" sz="3000" dirty="0"/>
          </a:p>
        </p:txBody>
      </p:sp>
      <p:sp>
        <p:nvSpPr>
          <p:cNvPr id="3" name="Shape 1"/>
          <p:cNvSpPr/>
          <p:nvPr/>
        </p:nvSpPr>
        <p:spPr>
          <a:xfrm>
            <a:off x="502920" y="1325880"/>
            <a:ext cx="5760720" cy="1051560"/>
          </a:xfrm>
          <a:prstGeom prst="roundRect">
            <a:avLst>
              <a:gd name="adj" fmla="val 6957"/>
            </a:avLst>
          </a:prstGeom>
          <a:solidFill>
            <a:srgbClr val="EEF2F7"/>
          </a:solidFill>
          <a:ln w="12700">
            <a:solidFill>
              <a:srgbClr val="EEF2F7"/>
            </a:solidFill>
            <a:prstDash val="solid"/>
          </a:ln>
        </p:spPr>
      </p:sp>
      <p:sp>
        <p:nvSpPr>
          <p:cNvPr id="4" name="Shape 2"/>
          <p:cNvSpPr/>
          <p:nvPr/>
        </p:nvSpPr>
        <p:spPr>
          <a:xfrm>
            <a:off x="731520" y="1572768"/>
            <a:ext cx="548640" cy="548640"/>
          </a:xfrm>
          <a:prstGeom prst="ellipse">
            <a:avLst/>
          </a:prstGeom>
          <a:solidFill>
            <a:srgbClr val="0072B2"/>
          </a:solidFill>
          <a:ln w="12700">
            <a:solidFill>
              <a:srgbClr val="0072B2"/>
            </a:solidFill>
            <a:prstDash val="solid"/>
          </a:ln>
        </p:spPr>
      </p:sp>
      <p:sp>
        <p:nvSpPr>
          <p:cNvPr id="5" name="Text 3"/>
          <p:cNvSpPr txBox="1"/>
          <p:nvPr/>
        </p:nvSpPr>
        <p:spPr>
          <a:xfrm>
            <a:off x="731520" y="15727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E</a:t>
            </a:r>
            <a:endParaRPr lang="en-US" sz="2000" dirty="0"/>
          </a:p>
        </p:txBody>
      </p:sp>
      <p:sp>
        <p:nvSpPr>
          <p:cNvPr id="6" name="Text 4"/>
          <p:cNvSpPr txBox="1"/>
          <p:nvPr/>
        </p:nvSpPr>
        <p:spPr>
          <a:xfrm>
            <a:off x="1463040" y="1399032"/>
            <a:ext cx="4663440" cy="914400"/>
          </a:xfrm>
          <a:prstGeom prst="rect">
            <a:avLst/>
          </a:prstGeom>
          <a:noFill/>
          <a:ln/>
        </p:spPr>
        <p:txBody>
          <a:bodyPr wrap="square" lIns="0" tIns="0" rIns="0" bIns="0" rtlCol="0" anchor="ctr"/>
          <a:lstStyle/>
          <a:p>
            <a:pPr indent="0" marL="0">
              <a:buNone/>
            </a:pPr>
            <a:r>
              <a:rPr lang="en-US" sz="1800" b="1" dirty="0">
                <a:solidFill>
                  <a:srgbClr val="1E1E24"/>
                </a:solidFill>
              </a:rPr>
              <a:t>English</a:t>
            </a:r>
            <a:endParaRPr lang="en-US" sz="1800" dirty="0"/>
          </a:p>
          <a:p>
            <a:pPr indent="0" marL="0">
              <a:buNone/>
            </a:pPr>
            <a:r>
              <a:rPr lang="en-US" sz="1800" i="1" dirty="0">
                <a:solidFill>
                  <a:srgbClr val="1E1E24"/>
                </a:solidFill>
              </a:rPr>
              <a:t>“How many marbles does Aman have?”</a:t>
            </a:r>
            <a:endParaRPr lang="en-US" sz="1800" dirty="0"/>
          </a:p>
        </p:txBody>
      </p:sp>
      <p:sp>
        <p:nvSpPr>
          <p:cNvPr id="7" name="Shape 5"/>
          <p:cNvSpPr/>
          <p:nvPr/>
        </p:nvSpPr>
        <p:spPr>
          <a:xfrm>
            <a:off x="502920" y="2560320"/>
            <a:ext cx="5760720" cy="1051560"/>
          </a:xfrm>
          <a:prstGeom prst="roundRect">
            <a:avLst>
              <a:gd name="adj" fmla="val 6957"/>
            </a:avLst>
          </a:prstGeom>
          <a:solidFill>
            <a:srgbClr val="EEF2F7"/>
          </a:solidFill>
          <a:ln w="12700">
            <a:solidFill>
              <a:srgbClr val="EEF2F7"/>
            </a:solidFill>
            <a:prstDash val="solid"/>
          </a:ln>
        </p:spPr>
      </p:sp>
      <p:sp>
        <p:nvSpPr>
          <p:cNvPr id="8" name="Shape 6"/>
          <p:cNvSpPr/>
          <p:nvPr/>
        </p:nvSpPr>
        <p:spPr>
          <a:xfrm>
            <a:off x="731520" y="2807208"/>
            <a:ext cx="548640" cy="548640"/>
          </a:xfrm>
          <a:prstGeom prst="ellipse">
            <a:avLst/>
          </a:prstGeom>
          <a:solidFill>
            <a:srgbClr val="E69F00"/>
          </a:solidFill>
          <a:ln w="12700">
            <a:solidFill>
              <a:srgbClr val="E69F00"/>
            </a:solidFill>
            <a:prstDash val="solid"/>
          </a:ln>
        </p:spPr>
      </p:sp>
      <p:sp>
        <p:nvSpPr>
          <p:cNvPr id="9" name="Text 7"/>
          <p:cNvSpPr txBox="1"/>
          <p:nvPr/>
        </p:nvSpPr>
        <p:spPr>
          <a:xfrm>
            <a:off x="73152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R</a:t>
            </a:r>
            <a:endParaRPr lang="en-US" sz="2000" dirty="0"/>
          </a:p>
        </p:txBody>
      </p:sp>
      <p:sp>
        <p:nvSpPr>
          <p:cNvPr id="10" name="Text 8"/>
          <p:cNvSpPr txBox="1"/>
          <p:nvPr/>
        </p:nvSpPr>
        <p:spPr>
          <a:xfrm>
            <a:off x="1463040" y="2633472"/>
            <a:ext cx="4663440" cy="914400"/>
          </a:xfrm>
          <a:prstGeom prst="rect">
            <a:avLst/>
          </a:prstGeom>
          <a:noFill/>
          <a:ln/>
        </p:spPr>
        <p:txBody>
          <a:bodyPr wrap="square" lIns="0" tIns="0" rIns="0" bIns="0" rtlCol="0" anchor="ctr"/>
          <a:lstStyle/>
          <a:p>
            <a:pPr indent="0" marL="0">
              <a:buNone/>
            </a:pPr>
            <a:r>
              <a:rPr lang="en-US" sz="1800" b="1" dirty="0">
                <a:solidFill>
                  <a:srgbClr val="1E1E24"/>
                </a:solidFill>
              </a:rPr>
              <a:t>Romanized Hindi</a:t>
            </a:r>
            <a:endParaRPr lang="en-US" sz="1800" dirty="0"/>
          </a:p>
          <a:p>
            <a:pPr indent="0" marL="0">
              <a:buNone/>
            </a:pPr>
            <a:r>
              <a:rPr lang="en-US" sz="1800" i="1" dirty="0">
                <a:solidFill>
                  <a:srgbClr val="1E1E24"/>
                </a:solidFill>
              </a:rPr>
              <a:t>“Aman ke paas kitne kanche hain?”</a:t>
            </a:r>
            <a:endParaRPr lang="en-US" sz="1800" dirty="0"/>
          </a:p>
        </p:txBody>
      </p:sp>
      <p:sp>
        <p:nvSpPr>
          <p:cNvPr id="11" name="Shape 9"/>
          <p:cNvSpPr/>
          <p:nvPr/>
        </p:nvSpPr>
        <p:spPr>
          <a:xfrm>
            <a:off x="502920" y="3794760"/>
            <a:ext cx="5760720" cy="1051560"/>
          </a:xfrm>
          <a:prstGeom prst="roundRect">
            <a:avLst>
              <a:gd name="adj" fmla="val 6957"/>
            </a:avLst>
          </a:prstGeom>
          <a:solidFill>
            <a:srgbClr val="EEF2F7"/>
          </a:solidFill>
          <a:ln w="12700">
            <a:solidFill>
              <a:srgbClr val="EEF2F7"/>
            </a:solidFill>
            <a:prstDash val="solid"/>
          </a:ln>
        </p:spPr>
      </p:sp>
      <p:sp>
        <p:nvSpPr>
          <p:cNvPr id="12" name="Shape 10"/>
          <p:cNvSpPr/>
          <p:nvPr/>
        </p:nvSpPr>
        <p:spPr>
          <a:xfrm>
            <a:off x="731520" y="4041648"/>
            <a:ext cx="548640" cy="548640"/>
          </a:xfrm>
          <a:prstGeom prst="ellipse">
            <a:avLst/>
          </a:prstGeom>
          <a:solidFill>
            <a:srgbClr val="009E73"/>
          </a:solidFill>
          <a:ln w="12700">
            <a:solidFill>
              <a:srgbClr val="009E73"/>
            </a:solidFill>
            <a:prstDash val="solid"/>
          </a:ln>
        </p:spPr>
      </p:sp>
      <p:sp>
        <p:nvSpPr>
          <p:cNvPr id="13" name="Text 11"/>
          <p:cNvSpPr txBox="1"/>
          <p:nvPr/>
        </p:nvSpPr>
        <p:spPr>
          <a:xfrm>
            <a:off x="73152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C</a:t>
            </a:r>
            <a:endParaRPr lang="en-US" sz="2000" dirty="0"/>
          </a:p>
        </p:txBody>
      </p:sp>
      <p:sp>
        <p:nvSpPr>
          <p:cNvPr id="14" name="Text 12"/>
          <p:cNvSpPr txBox="1"/>
          <p:nvPr/>
        </p:nvSpPr>
        <p:spPr>
          <a:xfrm>
            <a:off x="1463040" y="3867912"/>
            <a:ext cx="4663440" cy="914400"/>
          </a:xfrm>
          <a:prstGeom prst="rect">
            <a:avLst/>
          </a:prstGeom>
          <a:noFill/>
          <a:ln/>
        </p:spPr>
        <p:txBody>
          <a:bodyPr wrap="square" lIns="0" tIns="0" rIns="0" bIns="0" rtlCol="0" anchor="ctr"/>
          <a:lstStyle/>
          <a:p>
            <a:pPr indent="0" marL="0">
              <a:buNone/>
            </a:pPr>
            <a:r>
              <a:rPr lang="en-US" sz="1800" b="1" dirty="0">
                <a:solidFill>
                  <a:srgbClr val="1E1E24"/>
                </a:solidFill>
              </a:rPr>
              <a:t>Hinglish (insertional)</a:t>
            </a:r>
            <a:endParaRPr lang="en-US" sz="1800" dirty="0"/>
          </a:p>
          <a:p>
            <a:pPr indent="0" marL="0">
              <a:buNone/>
            </a:pPr>
            <a:r>
              <a:rPr lang="en-US" sz="1800" i="1" dirty="0">
                <a:solidFill>
                  <a:srgbClr val="1E1E24"/>
                </a:solidFill>
              </a:rPr>
              <a:t>“23 add karta hai”, “apples aur bananas ka ratio 3:7 hai”</a:t>
            </a:r>
            <a:endParaRPr lang="en-US" sz="1800" dirty="0"/>
          </a:p>
        </p:txBody>
      </p:sp>
      <p:sp>
        <p:nvSpPr>
          <p:cNvPr id="15" name="Text 13"/>
          <p:cNvSpPr txBox="1"/>
          <p:nvPr/>
        </p:nvSpPr>
        <p:spPr>
          <a:xfrm>
            <a:off x="502920" y="5120640"/>
            <a:ext cx="5760720" cy="822960"/>
          </a:xfrm>
          <a:prstGeom prst="rect">
            <a:avLst/>
          </a:prstGeom>
          <a:noFill/>
          <a:ln/>
        </p:spPr>
        <p:txBody>
          <a:bodyPr wrap="square" lIns="0" tIns="0" rIns="0" bIns="0" rtlCol="0" anchor="t"/>
          <a:lstStyle/>
          <a:p>
            <a:pPr indent="0" marL="0">
              <a:buNone/>
            </a:pPr>
            <a:r>
              <a:rPr lang="en-US" sz="1800" dirty="0">
                <a:solidFill>
                  <a:srgbClr val="4A5568"/>
                </a:solidFill>
              </a:rPr>
              <a:t>Indian users mix Hindi and English in Roman script; benchmarks are mostly English or Devanagari.</a:t>
            </a:r>
            <a:endParaRPr lang="en-US" sz="1800" dirty="0"/>
          </a:p>
        </p:txBody>
      </p:sp>
      <p:sp>
        <p:nvSpPr>
          <p:cNvPr id="16" name="Text 14"/>
          <p:cNvSpPr txBox="1"/>
          <p:nvPr/>
        </p:nvSpPr>
        <p:spPr>
          <a:xfrm>
            <a:off x="6720840" y="1325880"/>
            <a:ext cx="4937760" cy="411480"/>
          </a:xfrm>
          <a:prstGeom prst="rect">
            <a:avLst/>
          </a:prstGeom>
          <a:noFill/>
          <a:ln/>
        </p:spPr>
        <p:txBody>
          <a:bodyPr wrap="square" lIns="0" tIns="0" rIns="0" bIns="0" rtlCol="0" anchor="ctr"/>
          <a:lstStyle/>
          <a:p>
            <a:pPr indent="0" marL="0">
              <a:buNone/>
            </a:pPr>
            <a:r>
              <a:rPr lang="en-US" sz="2200" b="1" dirty="0">
                <a:solidFill>
                  <a:srgbClr val="1F2F4A"/>
                </a:solidFill>
              </a:rPr>
              <a:t>The confound</a:t>
            </a:r>
            <a:endParaRPr lang="en-US" sz="2200" dirty="0"/>
          </a:p>
        </p:txBody>
      </p:sp>
      <p:sp>
        <p:nvSpPr>
          <p:cNvPr id="17" name="Text 15"/>
          <p:cNvSpPr txBox="1"/>
          <p:nvPr/>
        </p:nvSpPr>
        <p:spPr>
          <a:xfrm>
            <a:off x="6720840" y="1783080"/>
            <a:ext cx="4937760" cy="109728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A drop could come from vocabulary, spelling, mixing, wording, or the evaluation protocol itself</a:t>
            </a:r>
            <a:endParaRPr lang="en-US" sz="1800" dirty="0"/>
          </a:p>
        </p:txBody>
      </p:sp>
      <p:sp>
        <p:nvSpPr>
          <p:cNvPr id="18" name="Text 16"/>
          <p:cNvSpPr txBox="1"/>
          <p:nvPr/>
        </p:nvSpPr>
        <p:spPr>
          <a:xfrm>
            <a:off x="6720840" y="3017520"/>
            <a:ext cx="4937760" cy="411480"/>
          </a:xfrm>
          <a:prstGeom prst="rect">
            <a:avLst/>
          </a:prstGeom>
          <a:noFill/>
          <a:ln/>
        </p:spPr>
        <p:txBody>
          <a:bodyPr wrap="square" lIns="0" tIns="0" rIns="0" bIns="0" rtlCol="0" anchor="ctr"/>
          <a:lstStyle/>
          <a:p>
            <a:pPr indent="0" marL="0">
              <a:buNone/>
            </a:pPr>
            <a:r>
              <a:rPr lang="en-US" sz="2200" b="1" dirty="0">
                <a:solidFill>
                  <a:srgbClr val="1F2F4A"/>
                </a:solidFill>
              </a:rPr>
              <a:t>Our design</a:t>
            </a:r>
            <a:endParaRPr lang="en-US" sz="2200" dirty="0"/>
          </a:p>
        </p:txBody>
      </p:sp>
      <p:sp>
        <p:nvSpPr>
          <p:cNvPr id="19" name="Text 17"/>
          <p:cNvSpPr txBox="1"/>
          <p:nvPr/>
        </p:nvSpPr>
        <p:spPr>
          <a:xfrm>
            <a:off x="6720840" y="3474720"/>
            <a:ext cx="4937760" cy="164592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Matched families: one problem, three renderings</a:t>
            </a:r>
            <a:endParaRPr lang="en-US" sz="1800" dirty="0"/>
          </a:p>
          <a:p>
            <a:pPr marL="342900" indent="-342900">
              <a:spcAft>
                <a:spcPts val="800"/>
              </a:spcAft>
              <a:buSzPct val="100000"/>
              <a:buChar char="•"/>
            </a:pPr>
            <a:r>
              <a:rPr lang="en-US" sz="1800" dirty="0">
                <a:solidFill>
                  <a:srgbClr val="1E1E24"/>
                </a:solidFill>
              </a:rPr>
              <a:t>Gold answer computed in code</a:t>
            </a:r>
            <a:endParaRPr lang="en-US" sz="1800" dirty="0"/>
          </a:p>
          <a:p>
            <a:pPr marL="342900" indent="-342900">
              <a:spcAft>
                <a:spcPts val="800"/>
              </a:spcAft>
              <a:buSzPct val="100000"/>
              <a:buChar char="•"/>
            </a:pPr>
            <a:r>
              <a:rPr lang="en-US" sz="1800" dirty="0">
                <a:solidFill>
                  <a:srgbClr val="1E1E24"/>
                </a:solidFill>
              </a:rPr>
              <a:t>Every analysis paired by family</a:t>
            </a:r>
            <a:endParaRPr lang="en-US" sz="1800" dirty="0"/>
          </a:p>
        </p:txBody>
      </p:sp>
      <p:sp>
        <p:nvSpPr>
          <p:cNvPr id="20"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docs/DECISIONS.md (D033, C definition)</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Research questions and related work</a:t>
            </a:r>
            <a:endParaRPr lang="en-US" sz="3000" dirty="0"/>
          </a:p>
        </p:txBody>
      </p:sp>
      <p:sp>
        <p:nvSpPr>
          <p:cNvPr id="3" name="Shape 1"/>
          <p:cNvSpPr/>
          <p:nvPr/>
        </p:nvSpPr>
        <p:spPr>
          <a:xfrm>
            <a:off x="502920" y="1325880"/>
            <a:ext cx="5440680" cy="1600200"/>
          </a:xfrm>
          <a:prstGeom prst="roundRect">
            <a:avLst>
              <a:gd name="adj" fmla="val 4571"/>
            </a:avLst>
          </a:prstGeom>
          <a:solidFill>
            <a:srgbClr val="EEF2F7"/>
          </a:solidFill>
          <a:ln w="12700">
            <a:solidFill>
              <a:srgbClr val="EEF2F7"/>
            </a:solidFill>
            <a:prstDash val="solid"/>
          </a:ln>
        </p:spPr>
      </p:sp>
      <p:sp>
        <p:nvSpPr>
          <p:cNvPr id="4" name="Text 2"/>
          <p:cNvSpPr txBox="1"/>
          <p:nvPr/>
        </p:nvSpPr>
        <p:spPr>
          <a:xfrm>
            <a:off x="731520" y="1417320"/>
            <a:ext cx="5029200" cy="1737360"/>
          </a:xfrm>
          <a:prstGeom prst="rect">
            <a:avLst/>
          </a:prstGeom>
          <a:noFill/>
          <a:ln/>
        </p:spPr>
        <p:txBody>
          <a:bodyPr wrap="square" lIns="0" tIns="0" rIns="0" bIns="0" rtlCol="0" anchor="t"/>
          <a:lstStyle/>
          <a:p>
            <a:pPr indent="0" marL="0">
              <a:spcAft>
                <a:spcPts val="600"/>
              </a:spcAft>
              <a:buNone/>
            </a:pPr>
            <a:r>
              <a:rPr lang="en-US" sz="2000" b="1" dirty="0">
                <a:solidFill>
                  <a:srgbClr val="1F2F4A"/>
                </a:solidFill>
              </a:rPr>
              <a:t>RQ1 (this phase)</a:t>
            </a:r>
            <a:endParaRPr lang="en-US" sz="2000" dirty="0"/>
          </a:p>
          <a:p>
            <a:pPr indent="0" marL="0">
              <a:spcAft>
                <a:spcPts val="600"/>
              </a:spcAft>
              <a:buNone/>
            </a:pPr>
            <a:r>
              <a:rPr lang="en-US" sz="2000" dirty="0">
                <a:solidFill>
                  <a:srgbClr val="1E1E24"/>
                </a:solidFill>
              </a:rPr>
              <a:t>Does an unchanged model's accuracy differ across E, R and C?</a:t>
            </a:r>
            <a:endParaRPr lang="en-US" sz="2000" dirty="0"/>
          </a:p>
        </p:txBody>
      </p:sp>
      <p:sp>
        <p:nvSpPr>
          <p:cNvPr id="5" name="Shape 3"/>
          <p:cNvSpPr/>
          <p:nvPr/>
        </p:nvSpPr>
        <p:spPr>
          <a:xfrm>
            <a:off x="6245352" y="1325880"/>
            <a:ext cx="5440680" cy="1600200"/>
          </a:xfrm>
          <a:prstGeom prst="roundRect">
            <a:avLst>
              <a:gd name="adj" fmla="val 4571"/>
            </a:avLst>
          </a:prstGeom>
          <a:solidFill>
            <a:srgbClr val="EEF2F7"/>
          </a:solidFill>
          <a:ln w="12700">
            <a:solidFill>
              <a:srgbClr val="EEF2F7"/>
            </a:solidFill>
            <a:prstDash val="solid"/>
          </a:ln>
        </p:spPr>
      </p:sp>
      <p:sp>
        <p:nvSpPr>
          <p:cNvPr id="6" name="Text 4"/>
          <p:cNvSpPr txBox="1"/>
          <p:nvPr/>
        </p:nvSpPr>
        <p:spPr>
          <a:xfrm>
            <a:off x="6473952" y="1417320"/>
            <a:ext cx="5029200" cy="1737360"/>
          </a:xfrm>
          <a:prstGeom prst="rect">
            <a:avLst/>
          </a:prstGeom>
          <a:noFill/>
          <a:ln/>
        </p:spPr>
        <p:txBody>
          <a:bodyPr wrap="square" lIns="0" tIns="0" rIns="0" bIns="0" rtlCol="0" anchor="t"/>
          <a:lstStyle/>
          <a:p>
            <a:pPr indent="0" marL="0">
              <a:spcAft>
                <a:spcPts val="600"/>
              </a:spcAft>
              <a:buNone/>
            </a:pPr>
            <a:r>
              <a:rPr lang="en-US" sz="2000" b="1" dirty="0">
                <a:solidFill>
                  <a:srgbClr val="1F2F4A"/>
                </a:solidFill>
              </a:rPr>
              <a:t>RQ2 / RQ3 (major phase)</a:t>
            </a:r>
            <a:endParaRPr lang="en-US" sz="2000" dirty="0"/>
          </a:p>
          <a:p>
            <a:pPr indent="0" marL="0">
              <a:spcAft>
                <a:spcPts val="600"/>
              </a:spcAft>
              <a:buNone/>
            </a:pPr>
            <a:r>
              <a:rPr lang="en-US" sz="2000" dirty="0">
                <a:solidFill>
                  <a:srgbClr val="1E1E24"/>
                </a:solidFill>
              </a:rPr>
              <a:t>Does E+C training beat matched E+R training on held-out C? Transfer and English retention?</a:t>
            </a:r>
            <a:endParaRPr lang="en-US" sz="2000" dirty="0"/>
          </a:p>
        </p:txBody>
      </p:sp>
      <p:sp>
        <p:nvSpPr>
          <p:cNvPr id="7" name="Text 5"/>
          <p:cNvSpPr txBox="1"/>
          <p:nvPr/>
        </p:nvSpPr>
        <p:spPr>
          <a:xfrm>
            <a:off x="502920" y="3520440"/>
            <a:ext cx="11155680" cy="411480"/>
          </a:xfrm>
          <a:prstGeom prst="rect">
            <a:avLst/>
          </a:prstGeom>
          <a:noFill/>
          <a:ln/>
        </p:spPr>
        <p:txBody>
          <a:bodyPr wrap="square" lIns="0" tIns="0" rIns="0" bIns="0" rtlCol="0" anchor="ctr"/>
          <a:lstStyle/>
          <a:p>
            <a:pPr indent="0" marL="0">
              <a:buNone/>
            </a:pPr>
            <a:r>
              <a:rPr lang="en-US" sz="2000" b="1" dirty="0">
                <a:solidFill>
                  <a:srgbClr val="1F2F4A"/>
                </a:solidFill>
              </a:rPr>
              <a:t>Prior work already shows Romanized and code-mixed drops</a:t>
            </a:r>
            <a:endParaRPr lang="en-US" sz="2000" dirty="0"/>
          </a:p>
        </p:txBody>
      </p:sp>
      <p:sp>
        <p:nvSpPr>
          <p:cNvPr id="8" name="Text 6"/>
          <p:cNvSpPr txBox="1"/>
          <p:nvPr/>
        </p:nvSpPr>
        <p:spPr>
          <a:xfrm>
            <a:off x="502920" y="3931920"/>
            <a:ext cx="11155680" cy="457200"/>
          </a:xfrm>
          <a:prstGeom prst="rect">
            <a:avLst/>
          </a:prstGeom>
          <a:noFill/>
          <a:ln/>
        </p:spPr>
        <p:txBody>
          <a:bodyPr wrap="square" lIns="0" tIns="0" rIns="0" bIns="0" rtlCol="0" anchor="ctr"/>
          <a:lstStyle/>
          <a:p>
            <a:pPr indent="0" marL="0">
              <a:buNone/>
            </a:pPr>
            <a:r>
              <a:rPr lang="en-US" sz="1800" dirty="0">
                <a:solidFill>
                  <a:srgbClr val="1E1E24"/>
                </a:solidFill>
              </a:rPr>
              <a:t>MGSM, Anand et al., CodeMixBench, Indi-RomCoM, Sarvam-M, CodeMixTax: an E/R/C gap alone is not novel.</a:t>
            </a:r>
            <a:endParaRPr lang="en-US" sz="1800" dirty="0"/>
          </a:p>
        </p:txBody>
      </p:sp>
      <p:sp>
        <p:nvSpPr>
          <p:cNvPr id="9" name="Text 7"/>
          <p:cNvSpPr txBox="1"/>
          <p:nvPr/>
        </p:nvSpPr>
        <p:spPr>
          <a:xfrm>
            <a:off x="502920" y="4526280"/>
            <a:ext cx="11155680" cy="411480"/>
          </a:xfrm>
          <a:prstGeom prst="rect">
            <a:avLst/>
          </a:prstGeom>
          <a:noFill/>
          <a:ln/>
        </p:spPr>
        <p:txBody>
          <a:bodyPr wrap="square" lIns="0" tIns="0" rIns="0" bIns="0" rtlCol="0" anchor="ctr"/>
          <a:lstStyle/>
          <a:p>
            <a:pPr indent="0" marL="0">
              <a:buNone/>
            </a:pPr>
            <a:r>
              <a:rPr lang="en-US" sz="2000" b="1" dirty="0">
                <a:solidFill>
                  <a:srgbClr val="1F2F4A"/>
                </a:solidFill>
              </a:rPr>
              <a:t>Our contributions</a:t>
            </a:r>
            <a:endParaRPr lang="en-US" sz="2000" dirty="0"/>
          </a:p>
        </p:txBody>
      </p:sp>
      <p:sp>
        <p:nvSpPr>
          <p:cNvPr id="10" name="Text 8"/>
          <p:cNvSpPr txBox="1"/>
          <p:nvPr/>
        </p:nvSpPr>
        <p:spPr>
          <a:xfrm>
            <a:off x="502920" y="4937760"/>
            <a:ext cx="11155680" cy="137160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A format-measurement caution</a:t>
            </a:r>
            <a:endParaRPr lang="en-US" sz="1800" dirty="0"/>
          </a:p>
          <a:p>
            <a:pPr marL="342900" indent="-342900">
              <a:spcAft>
                <a:spcPts val="800"/>
              </a:spcAft>
              <a:buSzPct val="100000"/>
              <a:buChar char="•"/>
            </a:pPr>
            <a:r>
              <a:rPr lang="en-US" sz="1800" dirty="0">
                <a:solidFill>
                  <a:srgbClr val="1E1E24"/>
                </a:solidFill>
              </a:rPr>
              <a:t>A paired, reviewed E/R/C resource with operation-word balance</a:t>
            </a:r>
            <a:endParaRPr lang="en-US" sz="1800" dirty="0"/>
          </a:p>
          <a:p>
            <a:pPr marL="342900" indent="-342900">
              <a:spcAft>
                <a:spcPts val="800"/>
              </a:spcAft>
              <a:buSzPct val="100000"/>
              <a:buChar char="•"/>
            </a:pPr>
            <a:r>
              <a:rPr lang="en-US" sz="1800" dirty="0">
                <a:solidFill>
                  <a:srgbClr val="1E1E24"/>
                </a:solidFill>
              </a:rPr>
              <a:t>A pre-registered diagnostic pilot; the controlled training comparison comes next</a:t>
            </a:r>
            <a:endParaRPr lang="en-US" sz="1800" dirty="0"/>
          </a:p>
        </p:txBody>
      </p:sp>
      <p:sp>
        <p:nvSpPr>
          <p:cNvPr id="11"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Data: 370 frozen families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2651760"/>
                <a:gridCol w="1280160"/>
                <a:gridCol w="1554480"/>
                <a:gridCol w="5696712"/>
              </a:tblGrid>
              <a:tr h="45720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Split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Families</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Drafted by</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Human review</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45720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Pilot-B (evaluated)</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Claude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One bilingual reviewer: 57 ACCEPT / 13 REVISE / 0 REJECT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Phase-2 FINAL_TEST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GPT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One reviewer: 32 ACCEPT / 68 REVISE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45720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Phase-2 DEV</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40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GPT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rowSpan="2">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Sample review of 45 TRAIN/DEV families: 19 ACCEPT / 26 REVISE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Phase-2 TRAIN</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160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Claude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vMerge="1">
                  <a:tcPr/>
                </a:tc>
              </a:tr>
            </a:tbl>
          </a:graphicData>
        </a:graphic>
      </p:graphicFrame>
      <p:sp>
        <p:nvSpPr>
          <p:cNvPr id="4" name="Text 1"/>
          <p:cNvSpPr txBox="1"/>
          <p:nvPr/>
        </p:nvSpPr>
        <p:spPr>
          <a:xfrm>
            <a:off x="502920" y="3886200"/>
            <a:ext cx="11155680" cy="237744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All frozen 16 Oct with SHA-256 hashes; FINAL_TEST untouched until the confirmatory evaluation</a:t>
            </a:r>
            <a:endParaRPr lang="en-US" sz="1800" dirty="0"/>
          </a:p>
          <a:p>
            <a:pPr marL="342900" indent="-342900">
              <a:spcAft>
                <a:spcPts val="800"/>
              </a:spcAft>
              <a:buSzPct val="100000"/>
              <a:buChar char="•"/>
            </a:pPr>
            <a:r>
              <a:rPr lang="en-US" sz="1800" dirty="0">
                <a:solidFill>
                  <a:srgbClr val="1E1E24"/>
                </a:solidFill>
              </a:rPr>
              <a:t>Blind dual-LLM solving: Pilot-B 210/210 (and 15/15 revised); Phase 2 Claude 900/900, GPT 897/900 (one family, GPT error)</a:t>
            </a:r>
            <a:endParaRPr lang="en-US" sz="1800" dirty="0"/>
          </a:p>
          <a:p>
            <a:pPr marL="342900" indent="-342900">
              <a:spcAft>
                <a:spcPts val="800"/>
              </a:spcAft>
              <a:buSzPct val="100000"/>
              <a:buChar char="•"/>
            </a:pPr>
            <a:r>
              <a:rPr lang="en-US" sz="1800" dirty="0">
                <a:solidFill>
                  <a:srgbClr val="1E1E24"/>
                </a:solidFill>
              </a:rPr>
              <a:t>No Qwen model ever drafted, solved or checked items</a:t>
            </a:r>
            <a:endParaRPr lang="en-US" sz="1800" dirty="0"/>
          </a:p>
          <a:p>
            <a:pPr marL="342900" indent="-342900">
              <a:spcAft>
                <a:spcPts val="800"/>
              </a:spcAft>
              <a:buSzPct val="100000"/>
              <a:buChar char="•"/>
            </a:pPr>
            <a:r>
              <a:rPr lang="en-US" sz="1800" dirty="0">
                <a:solidFill>
                  <a:srgbClr val="1E1E24"/>
                </a:solidFill>
              </a:rPr>
              <a:t>Original 30-family pilot: separate cohort, next slide</a:t>
            </a:r>
            <a:endParaRPr lang="en-US" sz="1800" dirty="0"/>
          </a:p>
        </p:txBody>
      </p:sp>
      <p:sp>
        <p:nvSpPr>
          <p:cNvPr id="5"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(pilot_b/FROZEN.md, phase2/*_FROZEN.md)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Original pilot: 24-family cohort, honest provenance</a:t>
            </a:r>
            <a:endParaRPr lang="en-US" sz="3000" dirty="0"/>
          </a:p>
        </p:txBody>
      </p:sp>
      <p:sp>
        <p:nvSpPr>
          <p:cNvPr id="3" name="Shape 1"/>
          <p:cNvSpPr/>
          <p:nvPr/>
        </p:nvSpPr>
        <p:spPr>
          <a:xfrm>
            <a:off x="502920" y="1234440"/>
            <a:ext cx="7680960" cy="1143000"/>
          </a:xfrm>
          <a:prstGeom prst="roundRect">
            <a:avLst>
              <a:gd name="adj" fmla="val 6400"/>
            </a:avLst>
          </a:prstGeom>
          <a:solidFill>
            <a:srgbClr val="EEF2F7"/>
          </a:solidFill>
          <a:ln w="12700">
            <a:solidFill>
              <a:srgbClr val="EEF2F7"/>
            </a:solidFill>
            <a:prstDash val="solid"/>
          </a:ln>
        </p:spPr>
      </p:sp>
      <p:sp>
        <p:nvSpPr>
          <p:cNvPr id="4" name="Shape 2"/>
          <p:cNvSpPr/>
          <p:nvPr/>
        </p:nvSpPr>
        <p:spPr>
          <a:xfrm>
            <a:off x="685800" y="1545336"/>
            <a:ext cx="512064" cy="512064"/>
          </a:xfrm>
          <a:prstGeom prst="ellipse">
            <a:avLst/>
          </a:prstGeom>
          <a:solidFill>
            <a:srgbClr val="1F2F4A"/>
          </a:solidFill>
          <a:ln w="12700">
            <a:solidFill>
              <a:srgbClr val="1F2F4A"/>
            </a:solidFill>
            <a:prstDash val="solid"/>
          </a:ln>
        </p:spPr>
      </p:sp>
      <p:sp>
        <p:nvSpPr>
          <p:cNvPr id="5" name="Text 3"/>
          <p:cNvSpPr txBox="1"/>
          <p:nvPr/>
        </p:nvSpPr>
        <p:spPr>
          <a:xfrm>
            <a:off x="685800" y="1545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371600" y="1271016"/>
            <a:ext cx="6675120" cy="1069848"/>
          </a:xfrm>
          <a:prstGeom prst="rect">
            <a:avLst/>
          </a:prstGeom>
          <a:noFill/>
          <a:ln/>
        </p:spPr>
        <p:txBody>
          <a:bodyPr wrap="square" lIns="0" tIns="0" rIns="0" bIns="0" rtlCol="0" anchor="ctr"/>
          <a:lstStyle/>
          <a:p>
            <a:pPr indent="0" marL="0">
              <a:buNone/>
            </a:pPr>
            <a:r>
              <a:rPr lang="en-US" sz="1800" b="1" dirty="0">
                <a:solidFill>
                  <a:srgbClr val="1F2F4A"/>
                </a:solidFill>
              </a:rPr>
              <a:t>Authoring (D038)</a:t>
            </a:r>
            <a:endParaRPr lang="en-US" sz="1800" dirty="0"/>
          </a:p>
          <a:p>
            <a:pPr indent="0" marL="0">
              <a:buNone/>
            </a:pPr>
            <a:r>
              <a:rPr lang="en-US" sz="1800" dirty="0">
                <a:solidFill>
                  <a:srgbClr val="1E1E24"/>
                </a:solidFill>
              </a:rPr>
              <a:t>E written by the author; R and C AI-translated (OpenAI GPT via Codex), then human-reviewed</a:t>
            </a:r>
            <a:endParaRPr lang="en-US" sz="1800" dirty="0"/>
          </a:p>
        </p:txBody>
      </p:sp>
      <p:sp>
        <p:nvSpPr>
          <p:cNvPr id="7" name="Shape 5"/>
          <p:cNvSpPr/>
          <p:nvPr/>
        </p:nvSpPr>
        <p:spPr>
          <a:xfrm>
            <a:off x="502920" y="2496312"/>
            <a:ext cx="7680960" cy="1143000"/>
          </a:xfrm>
          <a:prstGeom prst="roundRect">
            <a:avLst>
              <a:gd name="adj" fmla="val 6400"/>
            </a:avLst>
          </a:prstGeom>
          <a:solidFill>
            <a:srgbClr val="EEF2F7"/>
          </a:solidFill>
          <a:ln w="12700">
            <a:solidFill>
              <a:srgbClr val="EEF2F7"/>
            </a:solidFill>
            <a:prstDash val="solid"/>
          </a:ln>
        </p:spPr>
      </p:sp>
      <p:sp>
        <p:nvSpPr>
          <p:cNvPr id="8" name="Shape 6"/>
          <p:cNvSpPr/>
          <p:nvPr/>
        </p:nvSpPr>
        <p:spPr>
          <a:xfrm>
            <a:off x="685800" y="2807208"/>
            <a:ext cx="512064" cy="512064"/>
          </a:xfrm>
          <a:prstGeom prst="ellipse">
            <a:avLst/>
          </a:prstGeom>
          <a:solidFill>
            <a:srgbClr val="1F2F4A"/>
          </a:solidFill>
          <a:ln w="12700">
            <a:solidFill>
              <a:srgbClr val="1F2F4A"/>
            </a:solidFill>
            <a:prstDash val="solid"/>
          </a:ln>
        </p:spPr>
      </p:sp>
      <p:sp>
        <p:nvSpPr>
          <p:cNvPr id="9" name="Text 7"/>
          <p:cNvSpPr txBox="1"/>
          <p:nvPr/>
        </p:nvSpPr>
        <p:spPr>
          <a:xfrm>
            <a:off x="685800" y="280720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371600" y="2532888"/>
            <a:ext cx="6675120" cy="1069848"/>
          </a:xfrm>
          <a:prstGeom prst="rect">
            <a:avLst/>
          </a:prstGeom>
          <a:noFill/>
          <a:ln/>
        </p:spPr>
        <p:txBody>
          <a:bodyPr wrap="square" lIns="0" tIns="0" rIns="0" bIns="0" rtlCol="0" anchor="ctr"/>
          <a:lstStyle/>
          <a:p>
            <a:pPr indent="0" marL="0">
              <a:buNone/>
            </a:pPr>
            <a:r>
              <a:rPr lang="en-US" sz="1800" b="1" dirty="0">
                <a:solidFill>
                  <a:srgbClr val="1F2F4A"/>
                </a:solidFill>
              </a:rPr>
              <a:t>Stage 1: maths</a:t>
            </a:r>
            <a:endParaRPr lang="en-US" sz="1800" dirty="0"/>
          </a:p>
          <a:p>
            <a:pPr indent="0" marL="0">
              <a:buNone/>
            </a:pPr>
            <a:r>
              <a:rPr lang="en-US" sz="1800" dirty="0">
                <a:solidFill>
                  <a:srgbClr val="1E1E24"/>
                </a:solidFill>
              </a:rPr>
              <a:t>Solved independently by two human solvers</a:t>
            </a:r>
            <a:endParaRPr lang="en-US" sz="1800" dirty="0"/>
          </a:p>
        </p:txBody>
      </p:sp>
      <p:sp>
        <p:nvSpPr>
          <p:cNvPr id="11" name="Shape 9"/>
          <p:cNvSpPr/>
          <p:nvPr/>
        </p:nvSpPr>
        <p:spPr>
          <a:xfrm>
            <a:off x="502920" y="3758184"/>
            <a:ext cx="7680960" cy="1143000"/>
          </a:xfrm>
          <a:prstGeom prst="roundRect">
            <a:avLst>
              <a:gd name="adj" fmla="val 6400"/>
            </a:avLst>
          </a:prstGeom>
          <a:solidFill>
            <a:srgbClr val="EEF2F7"/>
          </a:solidFill>
          <a:ln w="12700">
            <a:solidFill>
              <a:srgbClr val="EEF2F7"/>
            </a:solidFill>
            <a:prstDash val="solid"/>
          </a:ln>
        </p:spPr>
      </p:sp>
      <p:sp>
        <p:nvSpPr>
          <p:cNvPr id="12" name="Shape 10"/>
          <p:cNvSpPr/>
          <p:nvPr/>
        </p:nvSpPr>
        <p:spPr>
          <a:xfrm>
            <a:off x="685800" y="4069080"/>
            <a:ext cx="512064" cy="512064"/>
          </a:xfrm>
          <a:prstGeom prst="ellipse">
            <a:avLst/>
          </a:prstGeom>
          <a:solidFill>
            <a:srgbClr val="1F2F4A"/>
          </a:solidFill>
          <a:ln w="12700">
            <a:solidFill>
              <a:srgbClr val="1F2F4A"/>
            </a:solidFill>
            <a:prstDash val="solid"/>
          </a:ln>
        </p:spPr>
      </p:sp>
      <p:sp>
        <p:nvSpPr>
          <p:cNvPr id="13" name="Text 11"/>
          <p:cNvSpPr txBox="1"/>
          <p:nvPr/>
        </p:nvSpPr>
        <p:spPr>
          <a:xfrm>
            <a:off x="685800" y="40690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4" name="Text 12"/>
          <p:cNvSpPr txBox="1"/>
          <p:nvPr/>
        </p:nvSpPr>
        <p:spPr>
          <a:xfrm>
            <a:off x="1371600" y="3794760"/>
            <a:ext cx="6675120" cy="1069848"/>
          </a:xfrm>
          <a:prstGeom prst="rect">
            <a:avLst/>
          </a:prstGeom>
          <a:noFill/>
          <a:ln/>
        </p:spPr>
        <p:txBody>
          <a:bodyPr wrap="square" lIns="0" tIns="0" rIns="0" bIns="0" rtlCol="0" anchor="ctr"/>
          <a:lstStyle/>
          <a:p>
            <a:pPr indent="0" marL="0">
              <a:buNone/>
            </a:pPr>
            <a:r>
              <a:rPr lang="en-US" sz="1800" b="1" dirty="0">
                <a:solidFill>
                  <a:srgbClr val="1F2F4A"/>
                </a:solidFill>
              </a:rPr>
              <a:t>Stage 2: language (D037)</a:t>
            </a:r>
            <a:endParaRPr lang="en-US" sz="1800" dirty="0"/>
          </a:p>
          <a:p>
            <a:pPr indent="0" marL="0">
              <a:buNone/>
            </a:pPr>
            <a:r>
              <a:rPr lang="en-US" sz="1800" dirty="0">
                <a:solidFill>
                  <a:srgbClr val="1E1E24"/>
                </a:solidFill>
              </a:rPr>
              <a:t>One human reviewer (R02) plus adjudicator A01. R01's stage-2 file marked 70/90 renderings as unverified AI prefill: excluded from all human-review claims</a:t>
            </a:r>
            <a:endParaRPr lang="en-US" sz="1800" dirty="0"/>
          </a:p>
        </p:txBody>
      </p:sp>
      <p:sp>
        <p:nvSpPr>
          <p:cNvPr id="15" name="Shape 13"/>
          <p:cNvSpPr/>
          <p:nvPr/>
        </p:nvSpPr>
        <p:spPr>
          <a:xfrm>
            <a:off x="502920" y="5020056"/>
            <a:ext cx="7680960" cy="1143000"/>
          </a:xfrm>
          <a:prstGeom prst="roundRect">
            <a:avLst>
              <a:gd name="adj" fmla="val 6400"/>
            </a:avLst>
          </a:prstGeom>
          <a:solidFill>
            <a:srgbClr val="EEF2F7"/>
          </a:solidFill>
          <a:ln w="12700">
            <a:solidFill>
              <a:srgbClr val="EEF2F7"/>
            </a:solidFill>
            <a:prstDash val="solid"/>
          </a:ln>
        </p:spPr>
      </p:sp>
      <p:sp>
        <p:nvSpPr>
          <p:cNvPr id="16" name="Shape 14"/>
          <p:cNvSpPr/>
          <p:nvPr/>
        </p:nvSpPr>
        <p:spPr>
          <a:xfrm>
            <a:off x="685800" y="5330952"/>
            <a:ext cx="512064" cy="512064"/>
          </a:xfrm>
          <a:prstGeom prst="ellipse">
            <a:avLst/>
          </a:prstGeom>
          <a:solidFill>
            <a:srgbClr val="1F2F4A"/>
          </a:solidFill>
          <a:ln w="12700">
            <a:solidFill>
              <a:srgbClr val="1F2F4A"/>
            </a:solidFill>
            <a:prstDash val="solid"/>
          </a:ln>
        </p:spPr>
      </p:sp>
      <p:sp>
        <p:nvSpPr>
          <p:cNvPr id="17" name="Text 15"/>
          <p:cNvSpPr txBox="1"/>
          <p:nvPr/>
        </p:nvSpPr>
        <p:spPr>
          <a:xfrm>
            <a:off x="685800" y="5330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18" name="Text 16"/>
          <p:cNvSpPr txBox="1"/>
          <p:nvPr/>
        </p:nvSpPr>
        <p:spPr>
          <a:xfrm>
            <a:off x="1371600" y="5056632"/>
            <a:ext cx="6675120" cy="1069848"/>
          </a:xfrm>
          <a:prstGeom prst="rect">
            <a:avLst/>
          </a:prstGeom>
          <a:noFill/>
          <a:ln/>
        </p:spPr>
        <p:txBody>
          <a:bodyPr wrap="square" lIns="0" tIns="0" rIns="0" bIns="0" rtlCol="0" anchor="ctr"/>
          <a:lstStyle/>
          <a:p>
            <a:pPr indent="0" marL="0">
              <a:buNone/>
            </a:pPr>
            <a:r>
              <a:rPr lang="en-US" sz="1800" b="1" dirty="0">
                <a:solidFill>
                  <a:srgbClr val="1F2F4A"/>
                </a:solidFill>
              </a:rPr>
              <a:t>Cohort (D036)</a:t>
            </a:r>
            <a:endParaRPr lang="en-US" sz="1800" dirty="0"/>
          </a:p>
          <a:p>
            <a:pPr indent="0" marL="0">
              <a:buNone/>
            </a:pPr>
            <a:r>
              <a:rPr lang="en-US" sz="1800" dirty="0">
                <a:solidFill>
                  <a:srgbClr val="1E1E24"/>
                </a:solidFill>
              </a:rPr>
              <a:t>30 → 24 families, accepted by A01 without repair. Excluded: PIL010 (near-duplicate); 5 repairs with no independent re-review</a:t>
            </a:r>
            <a:endParaRPr lang="en-US" sz="1800" dirty="0"/>
          </a:p>
        </p:txBody>
      </p:sp>
      <p:sp>
        <p:nvSpPr>
          <p:cNvPr id="19" name="Shape 17"/>
          <p:cNvSpPr/>
          <p:nvPr/>
        </p:nvSpPr>
        <p:spPr>
          <a:xfrm>
            <a:off x="8458200" y="1234440"/>
            <a:ext cx="3227832" cy="4928616"/>
          </a:xfrm>
          <a:prstGeom prst="roundRect">
            <a:avLst>
              <a:gd name="adj" fmla="val 2266"/>
            </a:avLst>
          </a:prstGeom>
          <a:solidFill>
            <a:srgbClr val="FBEFF5"/>
          </a:solidFill>
          <a:ln w="12700">
            <a:solidFill>
              <a:srgbClr val="FBEFF5"/>
            </a:solidFill>
            <a:prstDash val="solid"/>
          </a:ln>
        </p:spPr>
      </p:sp>
      <p:sp>
        <p:nvSpPr>
          <p:cNvPr id="20" name="Text 18"/>
          <p:cNvSpPr txBox="1"/>
          <p:nvPr/>
        </p:nvSpPr>
        <p:spPr>
          <a:xfrm>
            <a:off x="8641080" y="1417320"/>
            <a:ext cx="2880360" cy="3931920"/>
          </a:xfrm>
          <a:prstGeom prst="rect">
            <a:avLst/>
          </a:prstGeom>
          <a:noFill/>
          <a:ln/>
        </p:spPr>
        <p:txBody>
          <a:bodyPr wrap="square" lIns="0" tIns="0" rIns="0" bIns="0" rtlCol="0" anchor="t"/>
          <a:lstStyle/>
          <a:p>
            <a:pPr indent="0" marL="0">
              <a:buNone/>
            </a:pPr>
            <a:r>
              <a:rPr lang="en-US" sz="1800" b="1" dirty="0">
                <a:solidFill>
                  <a:srgbClr val="8E4A73"/>
                </a:solidFill>
              </a:rPr>
              <a:t>Why it matters</a:t>
            </a:r>
            <a:endParaRPr lang="en-US" sz="1800" dirty="0"/>
          </a:p>
          <a:p>
            <a:pPr indent="0" marL="0">
              <a:buNone/>
            </a:pPr>
            <a:r>
              <a:rPr lang="en-US" sz="1800" dirty="0">
                <a:solidFill>
                  <a:srgbClr val="1E1E24"/>
                </a:solidFill>
              </a:rPr>
              <a:t>Different C definition from Pilot-B (D033) and different review provenance.</a:t>
            </a:r>
            <a:endParaRPr lang="en-US" sz="1800" dirty="0"/>
          </a:p>
          <a:p>
            <a:pPr indent="0" marL="0">
              <a:buNone/>
            </a:pPr>
            <a:r>
              <a:rPr lang="en-US" sz="800" dirty="0">
                <a:solidFill>
                  <a:srgbClr val="1E1E24"/>
                </a:solidFill>
              </a:rPr>
              <a:t> </a:t>
            </a:r>
            <a:endParaRPr lang="en-US" sz="1800" dirty="0"/>
          </a:p>
          <a:p>
            <a:pPr indent="0" marL="0">
              <a:buNone/>
            </a:pPr>
            <a:r>
              <a:rPr lang="en-US" sz="1800" b="1" dirty="0">
                <a:solidFill>
                  <a:srgbClr val="1E1E24"/>
                </a:solidFill>
              </a:rPr>
              <a:t>Reported separately; never pooled with Pilot-B.</a:t>
            </a:r>
            <a:endParaRPr lang="en-US" sz="1800" dirty="0"/>
          </a:p>
          <a:p>
            <a:pPr indent="0" marL="0">
              <a:buNone/>
            </a:pPr>
            <a:r>
              <a:rPr lang="en-US" sz="800" dirty="0">
                <a:solidFill>
                  <a:srgbClr val="1E1E24"/>
                </a:solidFill>
              </a:rPr>
              <a:t> </a:t>
            </a:r>
            <a:endParaRPr lang="en-US" sz="1800" dirty="0"/>
          </a:p>
          <a:p>
            <a:pPr indent="0" marL="0">
              <a:buNone/>
            </a:pPr>
            <a:r>
              <a:rPr lang="en-US" sz="1800" dirty="0">
                <a:solidFill>
                  <a:srgbClr val="1E1E24"/>
                </a:solidFill>
              </a:rPr>
              <a:t>Conversion cross-checked against an independent GPT (Sol) implementation: cohort, hashes, answers and decisions all match.</a:t>
            </a:r>
            <a:endParaRPr lang="en-US" sz="1800" dirty="0"/>
          </a:p>
        </p:txBody>
      </p:sp>
      <p:sp>
        <p:nvSpPr>
          <p:cNvPr id="21"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docs/DECISIONS.md (D033, D036, D037, D038); results/pilot_original/SUMMARY.md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Pipeline and protocol</a:t>
            </a:r>
            <a:endParaRPr lang="en-US" sz="3000" dirty="0"/>
          </a:p>
        </p:txBody>
      </p:sp>
      <p:sp>
        <p:nvSpPr>
          <p:cNvPr id="3" name="Shape 1"/>
          <p:cNvSpPr/>
          <p:nvPr/>
        </p:nvSpPr>
        <p:spPr>
          <a:xfrm>
            <a:off x="502920" y="1417320"/>
            <a:ext cx="1965960" cy="1920240"/>
          </a:xfrm>
          <a:prstGeom prst="roundRect">
            <a:avLst>
              <a:gd name="adj" fmla="val 3810"/>
            </a:avLst>
          </a:prstGeom>
          <a:solidFill>
            <a:srgbClr val="EEF2F7"/>
          </a:solidFill>
          <a:ln w="12700">
            <a:solidFill>
              <a:srgbClr val="EEF2F7"/>
            </a:solidFill>
            <a:prstDash val="solid"/>
          </a:ln>
        </p:spPr>
      </p:sp>
      <p:sp>
        <p:nvSpPr>
          <p:cNvPr id="4" name="Text 2"/>
          <p:cNvSpPr txBox="1"/>
          <p:nvPr/>
        </p:nvSpPr>
        <p:spPr>
          <a:xfrm>
            <a:off x="612648" y="1508760"/>
            <a:ext cx="1746504" cy="1737360"/>
          </a:xfrm>
          <a:prstGeom prst="rect">
            <a:avLst/>
          </a:prstGeom>
          <a:noFill/>
          <a:ln/>
        </p:spPr>
        <p:txBody>
          <a:bodyPr wrap="square" lIns="0" tIns="0" rIns="0" bIns="0" rtlCol="0" anchor="ctr"/>
          <a:lstStyle/>
          <a:p>
            <a:pPr algn="ctr" indent="0" marL="0">
              <a:buNone/>
            </a:pPr>
            <a:r>
              <a:rPr lang="en-US" sz="2000" b="1" dirty="0">
                <a:solidFill>
                  <a:srgbClr val="1F2F4A"/>
                </a:solidFill>
              </a:rPr>
              <a:t>Frozen data</a:t>
            </a:r>
            <a:endParaRPr lang="en-US" sz="2000" dirty="0"/>
          </a:p>
          <a:p>
            <a:pPr algn="ctr" indent="0" marL="0">
              <a:buNone/>
            </a:pPr>
            <a:r>
              <a:rPr lang="en-US" sz="1800" dirty="0">
                <a:solidFill>
                  <a:srgbClr val="1E1E24"/>
                </a:solidFill>
              </a:rPr>
              <a:t>SHA-256 hashed</a:t>
            </a:r>
            <a:endParaRPr lang="en-US" sz="2000" dirty="0"/>
          </a:p>
        </p:txBody>
      </p:sp>
      <p:sp>
        <p:nvSpPr>
          <p:cNvPr id="5" name="Shape 3"/>
          <p:cNvSpPr/>
          <p:nvPr/>
        </p:nvSpPr>
        <p:spPr>
          <a:xfrm>
            <a:off x="2523744" y="2240280"/>
            <a:ext cx="228600" cy="274320"/>
          </a:xfrm>
          <a:prstGeom prst="rightArrow">
            <a:avLst/>
          </a:prstGeom>
          <a:solidFill>
            <a:srgbClr val="4A5568"/>
          </a:solidFill>
          <a:ln w="12700">
            <a:solidFill>
              <a:srgbClr val="4A5568"/>
            </a:solidFill>
            <a:prstDash val="solid"/>
          </a:ln>
        </p:spPr>
      </p:sp>
      <p:sp>
        <p:nvSpPr>
          <p:cNvPr id="6" name="Shape 4"/>
          <p:cNvSpPr/>
          <p:nvPr/>
        </p:nvSpPr>
        <p:spPr>
          <a:xfrm>
            <a:off x="2807208" y="1417320"/>
            <a:ext cx="1965960" cy="1920240"/>
          </a:xfrm>
          <a:prstGeom prst="roundRect">
            <a:avLst>
              <a:gd name="adj" fmla="val 3810"/>
            </a:avLst>
          </a:prstGeom>
          <a:solidFill>
            <a:srgbClr val="EEF2F7"/>
          </a:solidFill>
          <a:ln w="12700">
            <a:solidFill>
              <a:srgbClr val="EEF2F7"/>
            </a:solidFill>
            <a:prstDash val="solid"/>
          </a:ln>
        </p:spPr>
      </p:sp>
      <p:sp>
        <p:nvSpPr>
          <p:cNvPr id="7" name="Text 5"/>
          <p:cNvSpPr txBox="1"/>
          <p:nvPr/>
        </p:nvSpPr>
        <p:spPr>
          <a:xfrm>
            <a:off x="2916936" y="1508760"/>
            <a:ext cx="1746504" cy="1737360"/>
          </a:xfrm>
          <a:prstGeom prst="rect">
            <a:avLst/>
          </a:prstGeom>
          <a:noFill/>
          <a:ln/>
        </p:spPr>
        <p:txBody>
          <a:bodyPr wrap="square" lIns="0" tIns="0" rIns="0" bIns="0" rtlCol="0" anchor="ctr"/>
          <a:lstStyle/>
          <a:p>
            <a:pPr algn="ctr" indent="0" marL="0">
              <a:buNone/>
            </a:pPr>
            <a:r>
              <a:rPr lang="en-US" sz="2000" b="1" dirty="0">
                <a:solidFill>
                  <a:srgbClr val="1F2F4A"/>
                </a:solidFill>
              </a:rPr>
              <a:t>Colab T4</a:t>
            </a:r>
            <a:endParaRPr lang="en-US" sz="2000" dirty="0"/>
          </a:p>
          <a:p>
            <a:pPr algn="ctr" indent="0" marL="0">
              <a:buNone/>
            </a:pPr>
            <a:r>
              <a:rPr lang="en-US" sz="1800" dirty="0">
                <a:solidFill>
                  <a:srgbClr val="1E1E24"/>
                </a:solidFill>
              </a:rPr>
              <a:t>NF4 4-bit, FP16, greedy, thinking off, 1,024 tokens</a:t>
            </a:r>
            <a:endParaRPr lang="en-US" sz="2000" dirty="0"/>
          </a:p>
        </p:txBody>
      </p:sp>
      <p:sp>
        <p:nvSpPr>
          <p:cNvPr id="8" name="Shape 6"/>
          <p:cNvSpPr/>
          <p:nvPr/>
        </p:nvSpPr>
        <p:spPr>
          <a:xfrm>
            <a:off x="4828032" y="2240280"/>
            <a:ext cx="228600" cy="274320"/>
          </a:xfrm>
          <a:prstGeom prst="rightArrow">
            <a:avLst/>
          </a:prstGeom>
          <a:solidFill>
            <a:srgbClr val="4A5568"/>
          </a:solidFill>
          <a:ln w="12700">
            <a:solidFill>
              <a:srgbClr val="4A5568"/>
            </a:solidFill>
            <a:prstDash val="solid"/>
          </a:ln>
        </p:spPr>
      </p:sp>
      <p:sp>
        <p:nvSpPr>
          <p:cNvPr id="9" name="Shape 7"/>
          <p:cNvSpPr/>
          <p:nvPr/>
        </p:nvSpPr>
        <p:spPr>
          <a:xfrm>
            <a:off x="5111496" y="1417320"/>
            <a:ext cx="1965960" cy="1920240"/>
          </a:xfrm>
          <a:prstGeom prst="roundRect">
            <a:avLst>
              <a:gd name="adj" fmla="val 3810"/>
            </a:avLst>
          </a:prstGeom>
          <a:solidFill>
            <a:srgbClr val="EEF2F7"/>
          </a:solidFill>
          <a:ln w="12700">
            <a:solidFill>
              <a:srgbClr val="EEF2F7"/>
            </a:solidFill>
            <a:prstDash val="solid"/>
          </a:ln>
        </p:spPr>
      </p:sp>
      <p:sp>
        <p:nvSpPr>
          <p:cNvPr id="10" name="Text 8"/>
          <p:cNvSpPr txBox="1"/>
          <p:nvPr/>
        </p:nvSpPr>
        <p:spPr>
          <a:xfrm>
            <a:off x="5221224" y="1508760"/>
            <a:ext cx="1746504" cy="1737360"/>
          </a:xfrm>
          <a:prstGeom prst="rect">
            <a:avLst/>
          </a:prstGeom>
          <a:noFill/>
          <a:ln/>
        </p:spPr>
        <p:txBody>
          <a:bodyPr wrap="square" lIns="0" tIns="0" rIns="0" bIns="0" rtlCol="0" anchor="ctr"/>
          <a:lstStyle/>
          <a:p>
            <a:pPr algn="ctr" indent="0" marL="0">
              <a:buNone/>
            </a:pPr>
            <a:r>
              <a:rPr lang="en-US" sz="2000" b="1" dirty="0">
                <a:solidFill>
                  <a:srgbClr val="1F2F4A"/>
                </a:solidFill>
              </a:rPr>
              <a:t>Journal</a:t>
            </a:r>
            <a:endParaRPr lang="en-US" sz="2000" dirty="0"/>
          </a:p>
          <a:p>
            <a:pPr algn="ctr" indent="0" marL="0">
              <a:buNone/>
            </a:pPr>
            <a:r>
              <a:rPr lang="en-US" sz="1800" dirty="0">
                <a:solidFill>
                  <a:srgbClr val="1E1E24"/>
                </a:solidFill>
              </a:rPr>
              <a:t>append-only, fresh context, safe resume</a:t>
            </a:r>
            <a:endParaRPr lang="en-US" sz="2000" dirty="0"/>
          </a:p>
        </p:txBody>
      </p:sp>
      <p:sp>
        <p:nvSpPr>
          <p:cNvPr id="11" name="Shape 9"/>
          <p:cNvSpPr/>
          <p:nvPr/>
        </p:nvSpPr>
        <p:spPr>
          <a:xfrm>
            <a:off x="7132320" y="2240280"/>
            <a:ext cx="228600" cy="274320"/>
          </a:xfrm>
          <a:prstGeom prst="rightArrow">
            <a:avLst/>
          </a:prstGeom>
          <a:solidFill>
            <a:srgbClr val="4A5568"/>
          </a:solidFill>
          <a:ln w="12700">
            <a:solidFill>
              <a:srgbClr val="4A5568"/>
            </a:solidFill>
            <a:prstDash val="solid"/>
          </a:ln>
        </p:spPr>
      </p:sp>
      <p:sp>
        <p:nvSpPr>
          <p:cNvPr id="12" name="Shape 10"/>
          <p:cNvSpPr/>
          <p:nvPr/>
        </p:nvSpPr>
        <p:spPr>
          <a:xfrm>
            <a:off x="7415784" y="1417320"/>
            <a:ext cx="1965960" cy="1920240"/>
          </a:xfrm>
          <a:prstGeom prst="roundRect">
            <a:avLst>
              <a:gd name="adj" fmla="val 3810"/>
            </a:avLst>
          </a:prstGeom>
          <a:solidFill>
            <a:srgbClr val="E3F0F8"/>
          </a:solidFill>
          <a:ln w="12700">
            <a:solidFill>
              <a:srgbClr val="E3F0F8"/>
            </a:solidFill>
            <a:prstDash val="solid"/>
          </a:ln>
        </p:spPr>
      </p:sp>
      <p:sp>
        <p:nvSpPr>
          <p:cNvPr id="13" name="Text 11"/>
          <p:cNvSpPr txBox="1"/>
          <p:nvPr/>
        </p:nvSpPr>
        <p:spPr>
          <a:xfrm>
            <a:off x="7525512" y="1508760"/>
            <a:ext cx="1746504" cy="1737360"/>
          </a:xfrm>
          <a:prstGeom prst="rect">
            <a:avLst/>
          </a:prstGeom>
          <a:noFill/>
          <a:ln/>
        </p:spPr>
        <p:txBody>
          <a:bodyPr wrap="square" lIns="0" tIns="0" rIns="0" bIns="0" rtlCol="0" anchor="ctr"/>
          <a:lstStyle/>
          <a:p>
            <a:pPr algn="ctr" indent="0" marL="0">
              <a:buNone/>
            </a:pPr>
            <a:r>
              <a:rPr lang="en-US" sz="2000" b="1" dirty="0">
                <a:solidFill>
                  <a:srgbClr val="1F2F4A"/>
                </a:solidFill>
              </a:rPr>
              <a:t>Scorers</a:t>
            </a:r>
            <a:endParaRPr lang="en-US" sz="2000" dirty="0"/>
          </a:p>
          <a:p>
            <a:pPr algn="ctr" indent="0" marL="0">
              <a:buNone/>
            </a:pPr>
            <a:r>
              <a:rPr lang="en-US" sz="1800" dirty="0">
                <a:solidFill>
                  <a:srgbClr val="1E1E24"/>
                </a:solidFill>
              </a:rPr>
              <a:t>strict v1.0.0 (primary) + numeric_literal_v1</a:t>
            </a:r>
            <a:endParaRPr lang="en-US" sz="2000" dirty="0"/>
          </a:p>
        </p:txBody>
      </p:sp>
      <p:sp>
        <p:nvSpPr>
          <p:cNvPr id="14" name="Shape 12"/>
          <p:cNvSpPr/>
          <p:nvPr/>
        </p:nvSpPr>
        <p:spPr>
          <a:xfrm>
            <a:off x="9436608" y="2240280"/>
            <a:ext cx="228600" cy="274320"/>
          </a:xfrm>
          <a:prstGeom prst="rightArrow">
            <a:avLst/>
          </a:prstGeom>
          <a:solidFill>
            <a:srgbClr val="4A5568"/>
          </a:solidFill>
          <a:ln w="12700">
            <a:solidFill>
              <a:srgbClr val="4A5568"/>
            </a:solidFill>
            <a:prstDash val="solid"/>
          </a:ln>
        </p:spPr>
      </p:sp>
      <p:sp>
        <p:nvSpPr>
          <p:cNvPr id="15" name="Shape 13"/>
          <p:cNvSpPr/>
          <p:nvPr/>
        </p:nvSpPr>
        <p:spPr>
          <a:xfrm>
            <a:off x="9720072" y="1417320"/>
            <a:ext cx="1965960" cy="1920240"/>
          </a:xfrm>
          <a:prstGeom prst="roundRect">
            <a:avLst>
              <a:gd name="adj" fmla="val 3810"/>
            </a:avLst>
          </a:prstGeom>
          <a:solidFill>
            <a:srgbClr val="EEF2F7"/>
          </a:solidFill>
          <a:ln w="12700">
            <a:solidFill>
              <a:srgbClr val="EEF2F7"/>
            </a:solidFill>
            <a:prstDash val="solid"/>
          </a:ln>
        </p:spPr>
      </p:sp>
      <p:sp>
        <p:nvSpPr>
          <p:cNvPr id="16" name="Text 14"/>
          <p:cNvSpPr txBox="1"/>
          <p:nvPr/>
        </p:nvSpPr>
        <p:spPr>
          <a:xfrm>
            <a:off x="9829800" y="1508760"/>
            <a:ext cx="1746504" cy="1737360"/>
          </a:xfrm>
          <a:prstGeom prst="rect">
            <a:avLst/>
          </a:prstGeom>
          <a:noFill/>
          <a:ln/>
        </p:spPr>
        <p:txBody>
          <a:bodyPr wrap="square" lIns="0" tIns="0" rIns="0" bIns="0" rtlCol="0" anchor="ctr"/>
          <a:lstStyle/>
          <a:p>
            <a:pPr algn="ctr" indent="0" marL="0">
              <a:buNone/>
            </a:pPr>
            <a:r>
              <a:rPr lang="en-US" sz="2000" b="1" dirty="0">
                <a:solidFill>
                  <a:srgbClr val="1F2F4A"/>
                </a:solidFill>
              </a:rPr>
              <a:t>Results ZIP</a:t>
            </a:r>
            <a:endParaRPr lang="en-US" sz="2000" dirty="0"/>
          </a:p>
          <a:p>
            <a:pPr algn="ctr" indent="0" marL="0">
              <a:buNone/>
            </a:pPr>
            <a:r>
              <a:rPr lang="en-US" sz="1800" dirty="0">
                <a:solidFill>
                  <a:srgbClr val="1E1E24"/>
                </a:solidFill>
              </a:rPr>
              <a:t>checksummed</a:t>
            </a:r>
            <a:endParaRPr lang="en-US" sz="2000" dirty="0"/>
          </a:p>
        </p:txBody>
      </p:sp>
      <p:sp>
        <p:nvSpPr>
          <p:cNvPr id="17" name="Text 15"/>
          <p:cNvSpPr txBox="1"/>
          <p:nvPr/>
        </p:nvSpPr>
        <p:spPr>
          <a:xfrm>
            <a:off x="502920" y="3749040"/>
            <a:ext cx="11155680" cy="246888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One English instruction (prompt v2) for all forms and all models</a:t>
            </a:r>
            <a:endParaRPr lang="en-US" sz="1800" dirty="0"/>
          </a:p>
          <a:p>
            <a:pPr marL="342900" indent="-342900">
              <a:spcAft>
                <a:spcPts val="800"/>
              </a:spcAft>
              <a:buSzPct val="100000"/>
              <a:buChar char="•"/>
            </a:pPr>
            <a:r>
              <a:rPr lang="en-US" sz="1800" dirty="0">
                <a:solidFill>
                  <a:srgbClr val="1E1E24"/>
                </a:solidFill>
              </a:rPr>
              <a:t>Wilson 95% intervals; paired differences with 10,000 family-bootstrap resamples</a:t>
            </a:r>
            <a:endParaRPr lang="en-US" sz="1800" dirty="0"/>
          </a:p>
          <a:p>
            <a:pPr marL="342900" indent="-342900">
              <a:spcAft>
                <a:spcPts val="800"/>
              </a:spcAft>
              <a:buSzPct val="100000"/>
              <a:buChar char="•"/>
            </a:pPr>
            <a:r>
              <a:rPr lang="en-US" sz="1800" dirty="0">
                <a:solidFill>
                  <a:srgbClr val="1E1E24"/>
                </a:solidFill>
              </a:rPr>
              <a:t>Analysis plan pre-registered (pilot_b/PREREGISTRATION.md) before any Pilot-B output</a:t>
            </a:r>
            <a:endParaRPr lang="en-US" sz="1800" dirty="0"/>
          </a:p>
          <a:p>
            <a:pPr marL="342900" indent="-342900">
              <a:spcAft>
                <a:spcPts val="800"/>
              </a:spcAft>
              <a:buSzPct val="100000"/>
              <a:buChar char="•"/>
            </a:pPr>
            <a:r>
              <a:rPr lang="en-US" sz="1800" dirty="0">
                <a:solidFill>
                  <a:srgbClr val="1E1E24"/>
                </a:solidFill>
              </a:rPr>
              <a:t>The pipeline refuses to resume after any code, data or config change</a:t>
            </a:r>
            <a:endParaRPr lang="en-US" sz="1800" dirty="0"/>
          </a:p>
        </p:txBody>
      </p:sp>
      <p:sp>
        <p:nvSpPr>
          <p:cNvPr id="18"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results/pilot_b/SUMMARY.md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Dev finding 1: answer format confounds measurement</a:t>
            </a:r>
            <a:endParaRPr lang="en-US" sz="3000" dirty="0"/>
          </a:p>
        </p:txBody>
      </p:sp>
      <p:sp>
        <p:nvSpPr>
          <p:cNvPr id="3" name="evidence-tag"/>
          <p:cNvSpPr/>
          <p:nvPr/>
        </p:nvSpPr>
        <p:spPr>
          <a:xfrm>
            <a:off x="9357055" y="457200"/>
            <a:ext cx="2331720" cy="502920"/>
          </a:xfrm>
          <a:prstGeom prst="roundRect">
            <a:avLst>
              <a:gd name="adj" fmla="val 18182"/>
            </a:avLst>
          </a:prstGeom>
          <a:solidFill>
            <a:srgbClr val="D55E00"/>
          </a:solidFill>
          <a:ln w="12700">
            <a:solidFill>
              <a:srgbClr val="D55E00"/>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DEVELOPMENT EVIDENCE</a:t>
            </a:r>
            <a:endParaRPr lang="en-US" sz="1400" dirty="0"/>
          </a:p>
        </p:txBody>
      </p:sp>
      <p:sp>
        <p:nvSpPr>
          <p:cNvPr id="5" name="Text 3"/>
          <p:cNvSpPr txBox="1"/>
          <p:nvPr/>
        </p:nvSpPr>
        <p:spPr>
          <a:xfrm>
            <a:off x="502920" y="1280160"/>
            <a:ext cx="11155680" cy="411480"/>
          </a:xfrm>
          <a:prstGeom prst="rect">
            <a:avLst/>
          </a:prstGeom>
          <a:noFill/>
          <a:ln/>
        </p:spPr>
        <p:txBody>
          <a:bodyPr wrap="square" lIns="0" tIns="0" rIns="0" bIns="0" rtlCol="0" anchor="ctr"/>
          <a:lstStyle/>
          <a:p>
            <a:pPr indent="0" marL="0">
              <a:buNone/>
            </a:pPr>
            <a:r>
              <a:rPr lang="en-US" sz="2000" b="1" dirty="0">
                <a:solidFill>
                  <a:srgbClr val="1F2F4A"/>
                </a:solidFill>
              </a:rPr>
              <a:t>Prompt v1 → v2 on 36 excluded fixture prompts (Qwen3-4B)</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7498080" cy="914400"/>
        </p:xfrm>
        <a:graphic>
          <a:graphicData uri="http://schemas.openxmlformats.org/drawingml/2006/table">
            <a:tbl>
              <a:tblPr/>
              <a:tblGrid>
                <a:gridCol w="4206240"/>
                <a:gridCol w="1645920"/>
                <a:gridCol w="1645920"/>
              </a:tblGrid>
              <a:tr h="50292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Measure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Prompt v1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Prompt v2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5029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Format failures (of 36)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Strict correct E / R / C (of 12 each)</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 / 7 / 9</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12 / 10 / 12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5029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R explanations in Devanagari (of 12)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7" name="Shape 4"/>
          <p:cNvSpPr/>
          <p:nvPr/>
        </p:nvSpPr>
        <p:spPr>
          <a:xfrm>
            <a:off x="8366760" y="1783080"/>
            <a:ext cx="3319272" cy="2011680"/>
          </a:xfrm>
          <a:prstGeom prst="roundRect">
            <a:avLst>
              <a:gd name="adj" fmla="val 3636"/>
            </a:avLst>
          </a:prstGeom>
          <a:solidFill>
            <a:srgbClr val="EEF2F7"/>
          </a:solidFill>
          <a:ln w="12700">
            <a:solidFill>
              <a:srgbClr val="EEF2F7"/>
            </a:solidFill>
            <a:prstDash val="solid"/>
          </a:ln>
        </p:spPr>
      </p:sp>
      <p:sp>
        <p:nvSpPr>
          <p:cNvPr id="8" name="Text 5"/>
          <p:cNvSpPr txBox="1"/>
          <p:nvPr/>
        </p:nvSpPr>
        <p:spPr>
          <a:xfrm>
            <a:off x="8549640" y="1874520"/>
            <a:ext cx="2971800" cy="1828800"/>
          </a:xfrm>
          <a:prstGeom prst="rect">
            <a:avLst/>
          </a:prstGeom>
          <a:noFill/>
          <a:ln/>
        </p:spPr>
        <p:txBody>
          <a:bodyPr wrap="square" lIns="0" tIns="0" rIns="0" bIns="0" rtlCol="0" anchor="ctr"/>
          <a:lstStyle/>
          <a:p>
            <a:pPr indent="0" marL="0">
              <a:buNone/>
            </a:pPr>
            <a:r>
              <a:rPr lang="en-US" sz="1800" b="1" dirty="0">
                <a:solidFill>
                  <a:srgbClr val="1F2F4A"/>
                </a:solidFill>
              </a:rPr>
              <a:t>Typical v1 failure</a:t>
            </a:r>
            <a:endParaRPr lang="en-US" sz="1800" dirty="0"/>
          </a:p>
          <a:p>
            <a:pPr indent="0" marL="0">
              <a:buNone/>
            </a:pPr>
            <a:r>
              <a:rPr lang="en-US" sz="1800" dirty="0">
                <a:solidFill>
                  <a:srgbClr val="1E1E24"/>
                </a:solidFill>
                <a:latin typeface="Courier New" pitchFamily="34" charset="0"/>
                <a:ea typeface="Courier New" pitchFamily="34" charset="-122"/>
                <a:cs typeface="Courier New" pitchFamily="34" charset="-120"/>
              </a:rPr>
              <a:t>FINAL: 8 unitless</a:t>
            </a:r>
            <a:endParaRPr lang="en-US" sz="1800" dirty="0"/>
          </a:p>
          <a:p>
            <a:pPr indent="0" marL="0">
              <a:buNone/>
            </a:pPr>
            <a:r>
              <a:rPr lang="en-US" sz="1800" dirty="0">
                <a:solidFill>
                  <a:srgbClr val="1E1E24"/>
                </a:solidFill>
              </a:rPr>
              <a:t>after a correct dimensionless answer</a:t>
            </a:r>
            <a:endParaRPr lang="en-US" sz="1800" dirty="0"/>
          </a:p>
        </p:txBody>
      </p:sp>
      <p:sp>
        <p:nvSpPr>
          <p:cNvPr id="9" name="Text 6"/>
          <p:cNvSpPr txBox="1"/>
          <p:nvPr/>
        </p:nvSpPr>
        <p:spPr>
          <a:xfrm>
            <a:off x="502920" y="4160520"/>
            <a:ext cx="11155680" cy="201168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One disclosed prompt revision (D020), frozen before any pilot output</a:t>
            </a:r>
            <a:endParaRPr lang="en-US" sz="1800" dirty="0"/>
          </a:p>
          <a:p>
            <a:pPr marL="342900" indent="-342900">
              <a:spcAft>
                <a:spcPts val="800"/>
              </a:spcAft>
              <a:buSzPct val="100000"/>
              <a:buChar char="•"/>
            </a:pPr>
            <a:r>
              <a:rPr lang="en-US" sz="1800" dirty="0">
                <a:solidFill>
                  <a:srgbClr val="1E1E24"/>
                </a:solidFill>
              </a:rPr>
              <a:t>The fixtures also changed slightly, so 10 → 0 is a development comparison, not an isolated prompt effect</a:t>
            </a:r>
            <a:endParaRPr lang="en-US" sz="1800" dirty="0"/>
          </a:p>
        </p:txBody>
      </p:sp>
      <p:sp>
        <p:nvSpPr>
          <p:cNvPr id="10"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docs/DECISIONS.md (D020). Excluded fixtures, not evaluation data</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Dev finding 2: screening 7 models</a:t>
            </a:r>
            <a:endParaRPr lang="en-US" sz="3000" dirty="0"/>
          </a:p>
        </p:txBody>
      </p:sp>
      <p:sp>
        <p:nvSpPr>
          <p:cNvPr id="3" name="evidence-tag"/>
          <p:cNvSpPr/>
          <p:nvPr/>
        </p:nvSpPr>
        <p:spPr>
          <a:xfrm>
            <a:off x="9357055" y="457200"/>
            <a:ext cx="2331720" cy="502920"/>
          </a:xfrm>
          <a:prstGeom prst="roundRect">
            <a:avLst>
              <a:gd name="adj" fmla="val 18182"/>
            </a:avLst>
          </a:prstGeom>
          <a:solidFill>
            <a:srgbClr val="D55E00"/>
          </a:solidFill>
          <a:ln w="12700">
            <a:solidFill>
              <a:srgbClr val="D55E00"/>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DEVELOPMENT EVIDENCE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286000"/>
                <a:gridCol w="2377440"/>
                <a:gridCol w="2834640"/>
                <a:gridCol w="3685032"/>
              </a:tblGrid>
              <a:tr h="429768">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Strict-invalid (of 36)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Correct E / R / C (of 12)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Qwen3-4B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12 / 10 / 12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704F"/>
                          </a:solidFill>
                          <a:latin typeface="Calibri" pitchFamily="34" charset="0"/>
                          <a:ea typeface="Calibri" pitchFamily="34" charset="-122"/>
                          <a:cs typeface="Calibri" pitchFamily="34" charset="-120"/>
                        </a:rPr>
                        <a:t>Included (primary)</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Qwen3-8B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12 / 12 / 12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b="1" dirty="0">
                          <a:solidFill>
                            <a:srgbClr val="00704F"/>
                          </a:solidFill>
                          <a:latin typeface="Calibri" pitchFamily="34" charset="0"/>
                          <a:ea typeface="Calibri" pitchFamily="34" charset="-122"/>
                          <a:cs typeface="Calibri" pitchFamily="34" charset="-120"/>
                        </a:rPr>
                        <a:t>Included</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Llama-3.2-3B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12 / 9 / 9</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704F"/>
                          </a:solidFill>
                          <a:latin typeface="Calibri" pitchFamily="34" charset="0"/>
                          <a:ea typeface="Calibri" pitchFamily="34" charset="-122"/>
                          <a:cs typeface="Calibri" pitchFamily="34" charset="-120"/>
                        </a:rPr>
                        <a:t>Included</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Qwen3-1.7B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Excluded: instruction echo</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Phi-4-mini</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Excluded: inline FINAL, R repetition</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Granite-3.3-2B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Excluded: commentary after FINAL</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42976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Gemma-3-4B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no outputs</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Excluded: CUDA error under FP16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02920" y="4892040"/>
            <a:ext cx="11155680" cy="141732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Pre-declared rule: ≤ 3/36 strict-invalid, no per-model tuning → three backbones</a:t>
            </a:r>
            <a:endParaRPr lang="en-US" sz="1800" dirty="0"/>
          </a:p>
          <a:p>
            <a:pPr marL="342900" indent="-342900">
              <a:spcAft>
                <a:spcPts val="800"/>
              </a:spcAft>
              <a:buSzPct val="100000"/>
              <a:buChar char="•"/>
            </a:pPr>
            <a:r>
              <a:rPr lang="en-US" sz="1800" dirty="0">
                <a:solidFill>
                  <a:srgbClr val="1E1E24"/>
                </a:solidFill>
              </a:rPr>
              <a:t>Hypothesis (n = 2, unreviewed): Qwen3-4B's R errors misread bhaag (divide) and bhinn (fraction / “different”); tested on slide 11</a:t>
            </a:r>
            <a:endParaRPr lang="en-US" sz="1800" dirty="0"/>
          </a:p>
        </p:txBody>
      </p:sp>
      <p:sp>
        <p:nvSpPr>
          <p:cNvPr id="7"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docs/DECISIONS.md (D028, D030–D032)</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Romanized Hindi is the lowest form for every model</a:t>
            </a:r>
            <a:endParaRPr lang="en-US" sz="3000" dirty="0"/>
          </a:p>
        </p:txBody>
      </p:sp>
      <p:sp>
        <p:nvSpPr>
          <p:cNvPr id="3" name="evidence-tag"/>
          <p:cNvSpPr/>
          <p:nvPr/>
        </p:nvSpPr>
        <p:spPr>
          <a:xfrm>
            <a:off x="9357055" y="457200"/>
            <a:ext cx="2331720" cy="502920"/>
          </a:xfrm>
          <a:prstGeom prst="roundRect">
            <a:avLst>
              <a:gd name="adj" fmla="val 18182"/>
            </a:avLst>
          </a:prstGeom>
          <a:solidFill>
            <a:srgbClr val="0072B2"/>
          </a:solidFill>
          <a:ln w="12700">
            <a:solidFill>
              <a:srgbClr val="0072B2"/>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PILOT-B RESULT</a:t>
            </a:r>
            <a:endParaRPr lang="en-US" sz="1400" dirty="0"/>
          </a:p>
        </p:txBody>
      </p:sp>
      <p:pic>
        <p:nvPicPr>
          <p:cNvPr id="5" name="Image 0" descr="Strict accuracy by form (E, R, C) with 95% Wilson intervals for Qwen3-4B, Qwen3-8B and Llama-3.2-3B, 70 families per bar">    </p:cNvPr>
          <p:cNvPicPr>
            <a:picLocks noChangeAspect="1"/>
          </p:cNvPicPr>
          <p:nvPr/>
        </p:nvPicPr>
        <p:blipFill>
          <a:blip r:embed="rId1"/>
          <a:stretch>
            <a:fillRect/>
          </a:stretch>
        </p:blipFill>
        <p:spPr>
          <a:xfrm>
            <a:off x="1325880" y="1188720"/>
            <a:ext cx="9509760" cy="343408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4709160"/>
          <a:ext cx="11183112" cy="914400"/>
        </p:xfrm>
        <a:graphic>
          <a:graphicData uri="http://schemas.openxmlformats.org/drawingml/2006/table">
            <a:tbl>
              <a:tblPr/>
              <a:tblGrid>
                <a:gridCol w="3502152"/>
                <a:gridCol w="2560320"/>
                <a:gridCol w="2560320"/>
                <a:gridCol w="2560320"/>
              </a:tblGrid>
              <a:tr h="384048">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Strict accuracy, % [95% Wilson]</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R</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38404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Qwen3-4B (primary)</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94.3 [86.2, 97.8]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85.7 [75.7, 92.1]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94.3 [86.2, 97.8]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38404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Qwen3-8B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98.6 [92.3, 99.7]</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91.4 [82.5, 96.0]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98.6 [92.3, 99.7]</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384048">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Llama-3.2-3B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94.3 [86.2, 97.8]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57.1 [45.5, 68.1]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70.0 [58.5, 79.5]</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7"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results/pilot_b/SUMMARY.md; figure paper/figures/accuracy_by_form.png. 70 families × 3 forms per model</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Paired differences: the gap is model-dependent</a:t>
            </a:r>
            <a:endParaRPr lang="en-US" sz="3000" dirty="0"/>
          </a:p>
        </p:txBody>
      </p:sp>
      <p:sp>
        <p:nvSpPr>
          <p:cNvPr id="3" name="evidence-tag"/>
          <p:cNvSpPr/>
          <p:nvPr/>
        </p:nvSpPr>
        <p:spPr>
          <a:xfrm>
            <a:off x="9357055" y="457200"/>
            <a:ext cx="2331720" cy="502920"/>
          </a:xfrm>
          <a:prstGeom prst="roundRect">
            <a:avLst>
              <a:gd name="adj" fmla="val 18182"/>
            </a:avLst>
          </a:prstGeom>
          <a:solidFill>
            <a:srgbClr val="0072B2"/>
          </a:solidFill>
          <a:ln w="12700">
            <a:solidFill>
              <a:srgbClr val="0072B2"/>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PILOT-B RESULT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770632"/>
                <a:gridCol w="2807208"/>
                <a:gridCol w="2807208"/>
                <a:gridCol w="2798064"/>
              </a:tblGrid>
              <a:tr h="45720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 − R (pp)</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 − C (pp)</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R − C (pp)</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7315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Qwen3-4B (primary)</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+8.6 [−1.4, +18.6]</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9/3</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0.0 [−7.1, +7.1]</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3/3</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−8.6 [−15.7, −1.4]</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1/7</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7315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Qwen3-8B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+7.1 [0.0, +14.3]</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6/1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0.0 [−4.3, +4.3]</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1/1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−7.1 [−14.3, 0.0]</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1/6</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7315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Llama-3.2-3B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+37.1 [+24.3, +50.0]</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28/2</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+24.3 [+11.4, +37.1]</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21/4</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−12.9 [−27.1, +1.4]</a:t>
                      </a:r>
                      <a:endParaRPr lang="en-US" sz="1800" dirty="0">
                        <a:latin typeface="Calibri" charset="0"/>
                        <a:ea typeface="Calibri" charset="0"/>
                        <a:cs typeface="Calibri" charset="0"/>
                      </a:endParaRPr>
                    </a:p>
                    <a:p>
                      <a:pPr algn="ctr" indent="0" marL="0">
                        <a:buNone/>
                      </a:pPr>
                      <a:r>
                        <a:rPr lang="en-US" sz="1800" dirty="0">
                          <a:solidFill>
                            <a:srgbClr val="4A5568"/>
                          </a:solidFill>
                          <a:latin typeface="Calibri" pitchFamily="34" charset="0"/>
                          <a:ea typeface="Calibri" pitchFamily="34" charset="-122"/>
                          <a:cs typeface="Calibri" pitchFamily="34" charset="-120"/>
                        </a:rPr>
                        <a:t>discordant 10/19</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343400"/>
            <a:ext cx="3566160" cy="1783080"/>
          </a:xfrm>
          <a:prstGeom prst="roundRect">
            <a:avLst>
              <a:gd name="adj" fmla="val 4103"/>
            </a:avLst>
          </a:prstGeom>
          <a:solidFill>
            <a:srgbClr val="EEF2F7"/>
          </a:solidFill>
          <a:ln w="12700">
            <a:solidFill>
              <a:srgbClr val="EEF2F7"/>
            </a:solidFill>
            <a:prstDash val="solid"/>
          </a:ln>
        </p:spPr>
      </p:sp>
      <p:sp>
        <p:nvSpPr>
          <p:cNvPr id="7" name="Text 4"/>
          <p:cNvSpPr txBox="1"/>
          <p:nvPr/>
        </p:nvSpPr>
        <p:spPr>
          <a:xfrm>
            <a:off x="685800" y="4434840"/>
            <a:ext cx="3200400" cy="16002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R deficit</a:t>
            </a:r>
            <a:endParaRPr lang="en-US" sz="1800" dirty="0"/>
          </a:p>
          <a:p>
            <a:pPr indent="0" marL="0">
              <a:spcAft>
                <a:spcPts val="400"/>
              </a:spcAft>
              <a:buNone/>
            </a:pPr>
            <a:r>
              <a:rPr lang="en-US" sz="1800" dirty="0">
                <a:solidFill>
                  <a:srgbClr val="1E1E24"/>
                </a:solidFill>
              </a:rPr>
              <a:t>about 7–9 points for Qwen, 37 for Llama</a:t>
            </a:r>
            <a:endParaRPr lang="en-US" sz="1800" dirty="0"/>
          </a:p>
        </p:txBody>
      </p:sp>
      <p:sp>
        <p:nvSpPr>
          <p:cNvPr id="8" name="Shape 5"/>
          <p:cNvSpPr/>
          <p:nvPr/>
        </p:nvSpPr>
        <p:spPr>
          <a:xfrm>
            <a:off x="4306824" y="4343400"/>
            <a:ext cx="3566160" cy="1783080"/>
          </a:xfrm>
          <a:prstGeom prst="roundRect">
            <a:avLst>
              <a:gd name="adj" fmla="val 4103"/>
            </a:avLst>
          </a:prstGeom>
          <a:solidFill>
            <a:srgbClr val="EEF2F7"/>
          </a:solidFill>
          <a:ln w="12700">
            <a:solidFill>
              <a:srgbClr val="EEF2F7"/>
            </a:solidFill>
            <a:prstDash val="solid"/>
          </a:ln>
        </p:spPr>
      </p:sp>
      <p:sp>
        <p:nvSpPr>
          <p:cNvPr id="9" name="Text 6"/>
          <p:cNvSpPr txBox="1"/>
          <p:nvPr/>
        </p:nvSpPr>
        <p:spPr>
          <a:xfrm>
            <a:off x="4489704" y="4434840"/>
            <a:ext cx="3200400" cy="16002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C = E for Qwen</a:t>
            </a:r>
            <a:endParaRPr lang="en-US" sz="1800" dirty="0"/>
          </a:p>
          <a:p>
            <a:pPr indent="0" marL="0">
              <a:spcAft>
                <a:spcPts val="400"/>
              </a:spcAft>
              <a:buNone/>
            </a:pPr>
            <a:r>
              <a:rPr lang="en-US" sz="1800" dirty="0">
                <a:solidFill>
                  <a:srgbClr val="1E1E24"/>
                </a:solidFill>
              </a:rPr>
              <a:t>0.0 for both sizes; Qwen3-4B R − C interval excludes 0</a:t>
            </a:r>
            <a:endParaRPr lang="en-US" sz="1800" dirty="0"/>
          </a:p>
        </p:txBody>
      </p:sp>
      <p:sp>
        <p:nvSpPr>
          <p:cNvPr id="10" name="Shape 7"/>
          <p:cNvSpPr/>
          <p:nvPr/>
        </p:nvSpPr>
        <p:spPr>
          <a:xfrm>
            <a:off x="8110728" y="4343400"/>
            <a:ext cx="3566160" cy="1783080"/>
          </a:xfrm>
          <a:prstGeom prst="roundRect">
            <a:avLst>
              <a:gd name="adj" fmla="val 4103"/>
            </a:avLst>
          </a:prstGeom>
          <a:solidFill>
            <a:srgbClr val="EEF2F7"/>
          </a:solidFill>
          <a:ln w="12700">
            <a:solidFill>
              <a:srgbClr val="EEF2F7"/>
            </a:solidFill>
            <a:prstDash val="solid"/>
          </a:ln>
        </p:spPr>
      </p:sp>
      <p:sp>
        <p:nvSpPr>
          <p:cNvPr id="11" name="Text 8"/>
          <p:cNvSpPr txBox="1"/>
          <p:nvPr/>
        </p:nvSpPr>
        <p:spPr>
          <a:xfrm>
            <a:off x="8293608" y="4434840"/>
            <a:ext cx="3200400" cy="16002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Scale helps</a:t>
            </a:r>
            <a:endParaRPr lang="en-US" sz="1800" dirty="0"/>
          </a:p>
          <a:p>
            <a:pPr indent="0" marL="0">
              <a:spcAft>
                <a:spcPts val="400"/>
              </a:spcAft>
              <a:buNone/>
            </a:pPr>
            <a:r>
              <a:rPr lang="en-US" sz="1800" dirty="0">
                <a:solidFill>
                  <a:srgbClr val="1E1E24"/>
                </a:solidFill>
              </a:rPr>
              <a:t>4B → 8B improves every form; R deficit stays (8.6 → 7.1 pp)</a:t>
            </a:r>
            <a:endParaRPr lang="en-US" sz="1800" dirty="0"/>
          </a:p>
        </p:txBody>
      </p:sp>
      <p:sp>
        <p:nvSpPr>
          <p:cNvPr id="12"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results/pilot_b/SUMMARY.md; discordant counts from slides_outline.md. 95% family bootstrap, 10,000 resamples (seed 101)</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The operation-word hypothesis is not supported</a:t>
            </a:r>
            <a:endParaRPr lang="en-US" sz="3000" dirty="0"/>
          </a:p>
        </p:txBody>
      </p:sp>
      <p:sp>
        <p:nvSpPr>
          <p:cNvPr id="3" name="evidence-tag"/>
          <p:cNvSpPr/>
          <p:nvPr/>
        </p:nvSpPr>
        <p:spPr>
          <a:xfrm>
            <a:off x="9357055" y="457200"/>
            <a:ext cx="2331720" cy="502920"/>
          </a:xfrm>
          <a:prstGeom prst="roundRect">
            <a:avLst>
              <a:gd name="adj" fmla="val 18182"/>
            </a:avLst>
          </a:prstGeom>
          <a:solidFill>
            <a:srgbClr val="0072B2"/>
          </a:solidFill>
          <a:ln w="12700">
            <a:solidFill>
              <a:srgbClr val="0072B2"/>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PILOT-B, DESCRIPTIVE</a:t>
            </a:r>
            <a:endParaRPr lang="en-US" sz="1400" dirty="0"/>
          </a:p>
        </p:txBody>
      </p:sp>
      <p:pic>
        <p:nvPicPr>
          <p:cNvPr id="5" name="Image 0" descr="Strict R accuracy by operation-word stratum for three models: C keeps Hindi op-word (18 families), C switches to English (17), no Hindi op-word (35)">    </p:cNvPr>
          <p:cNvPicPr>
            <a:picLocks noChangeAspect="1"/>
          </p:cNvPicPr>
          <p:nvPr/>
        </p:nvPicPr>
        <p:blipFill>
          <a:blip r:embed="rId1"/>
          <a:stretch>
            <a:fillRect/>
          </a:stretch>
        </p:blipFill>
        <p:spPr>
          <a:xfrm>
            <a:off x="822960" y="1188720"/>
            <a:ext cx="10515600" cy="3943350"/>
          </a:xfrm>
          <a:prstGeom prst="rect">
            <a:avLst/>
          </a:prstGeom>
        </p:spPr>
      </p:pic>
      <p:sp>
        <p:nvSpPr>
          <p:cNvPr id="6" name="Text 3"/>
          <p:cNvSpPr txBox="1"/>
          <p:nvPr/>
        </p:nvSpPr>
        <p:spPr>
          <a:xfrm>
            <a:off x="502920" y="5212080"/>
            <a:ext cx="11155680" cy="114300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R accuracy keep / switch / none: Qwen3-4B 89 / 82 / 86%; Qwen3-8B 94 / 94 / 89%; Llama 67 / 59 / 51%</a:t>
            </a:r>
            <a:endParaRPr lang="en-US" sz="1800" dirty="0"/>
          </a:p>
          <a:p>
            <a:pPr marL="342900" indent="-342900">
              <a:spcAft>
                <a:spcPts val="800"/>
              </a:spcAft>
              <a:buSzPct val="100000"/>
              <a:buChar char="•"/>
            </a:pPr>
            <a:r>
              <a:rPr lang="en-US" sz="1800" dirty="0">
                <a:solidFill>
                  <a:srgbClr val="1E1E24"/>
                </a:solidFill>
              </a:rPr>
              <a:t>R errors are spread across families with and without Hindi operation words; many Llama R errors are plain arithmetic slips (PB017: 1200 − 3×265 = 405, answered 435)</a:t>
            </a:r>
            <a:endParaRPr lang="en-US" sz="1800" dirty="0"/>
          </a:p>
        </p:txBody>
      </p:sp>
      <p:sp>
        <p:nvSpPr>
          <p:cNvPr id="7"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results/pilot_b/*/RESULTS.md; figure report/figures/pilotb_r_by_stratum.pdf. Strata of 17–35 families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Output audit (Qwen3-4B): what the failures are</a:t>
            </a:r>
            <a:endParaRPr lang="en-US" sz="3000" dirty="0"/>
          </a:p>
        </p:txBody>
      </p:sp>
      <p:sp>
        <p:nvSpPr>
          <p:cNvPr id="3" name="evidence-tag"/>
          <p:cNvSpPr/>
          <p:nvPr/>
        </p:nvSpPr>
        <p:spPr>
          <a:xfrm>
            <a:off x="9357055" y="457200"/>
            <a:ext cx="2331720" cy="502920"/>
          </a:xfrm>
          <a:prstGeom prst="roundRect">
            <a:avLst>
              <a:gd name="adj" fmla="val 18182"/>
            </a:avLst>
          </a:prstGeom>
          <a:solidFill>
            <a:srgbClr val="0072B2"/>
          </a:solidFill>
          <a:ln w="12700">
            <a:solidFill>
              <a:srgbClr val="0072B2"/>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PILOT-B RESULT</a:t>
            </a:r>
            <a:endParaRPr lang="en-US" sz="1400" dirty="0"/>
          </a:p>
        </p:txBody>
      </p:sp>
      <p:sp>
        <p:nvSpPr>
          <p:cNvPr id="5" name="Text 3"/>
          <p:cNvSpPr txBox="1"/>
          <p:nvPr/>
        </p:nvSpPr>
        <p:spPr>
          <a:xfrm>
            <a:off x="502920" y="1325880"/>
            <a:ext cx="1280160" cy="868680"/>
          </a:xfrm>
          <a:prstGeom prst="rect">
            <a:avLst/>
          </a:prstGeom>
          <a:noFill/>
          <a:ln/>
        </p:spPr>
        <p:txBody>
          <a:bodyPr wrap="square" lIns="0" tIns="0" rIns="0" bIns="0" rtlCol="0" anchor="ctr"/>
          <a:lstStyle/>
          <a:p>
            <a:pPr algn="r" indent="0" marL="0">
              <a:buNone/>
            </a:pPr>
            <a:r>
              <a:rPr lang="en-US" sz="4800" b="1" dirty="0">
                <a:solidFill>
                  <a:srgbClr val="1F2F4A"/>
                </a:solidFill>
                <a:latin typeface="Cambria" pitchFamily="34" charset="0"/>
                <a:ea typeface="Cambria" pitchFamily="34" charset="-122"/>
                <a:cs typeface="Cambria" pitchFamily="34" charset="-120"/>
              </a:rPr>
              <a:t>18</a:t>
            </a:r>
            <a:endParaRPr lang="en-US" sz="4800" dirty="0"/>
          </a:p>
        </p:txBody>
      </p:sp>
      <p:sp>
        <p:nvSpPr>
          <p:cNvPr id="6" name="Text 4"/>
          <p:cNvSpPr txBox="1"/>
          <p:nvPr/>
        </p:nvSpPr>
        <p:spPr>
          <a:xfrm>
            <a:off x="1920240" y="1325880"/>
            <a:ext cx="2194560" cy="868680"/>
          </a:xfrm>
          <a:prstGeom prst="rect">
            <a:avLst/>
          </a:prstGeom>
          <a:noFill/>
          <a:ln/>
        </p:spPr>
        <p:txBody>
          <a:bodyPr wrap="square" lIns="0" tIns="0" rIns="0" bIns="0" rtlCol="0" anchor="ctr"/>
          <a:lstStyle/>
          <a:p>
            <a:pPr indent="0" marL="0">
              <a:buNone/>
            </a:pPr>
            <a:r>
              <a:rPr lang="en-US" sz="2000" dirty="0">
                <a:solidFill>
                  <a:srgbClr val="1E1E24"/>
                </a:solidFill>
              </a:rPr>
              <a:t>strict failures</a:t>
            </a:r>
            <a:endParaRPr lang="en-US" sz="2000" dirty="0"/>
          </a:p>
        </p:txBody>
      </p:sp>
      <p:sp>
        <p:nvSpPr>
          <p:cNvPr id="7" name="Text 5"/>
          <p:cNvSpPr txBox="1"/>
          <p:nvPr/>
        </p:nvSpPr>
        <p:spPr>
          <a:xfrm>
            <a:off x="502920" y="2350008"/>
            <a:ext cx="1280160" cy="868680"/>
          </a:xfrm>
          <a:prstGeom prst="rect">
            <a:avLst/>
          </a:prstGeom>
          <a:noFill/>
          <a:ln/>
        </p:spPr>
        <p:txBody>
          <a:bodyPr wrap="square" lIns="0" tIns="0" rIns="0" bIns="0" rtlCol="0" anchor="ctr"/>
          <a:lstStyle/>
          <a:p>
            <a:pPr algn="r" indent="0" marL="0">
              <a:buNone/>
            </a:pPr>
            <a:r>
              <a:rPr lang="en-US" sz="4800" b="1" dirty="0">
                <a:solidFill>
                  <a:srgbClr val="4A5568"/>
                </a:solidFill>
                <a:latin typeface="Cambria" pitchFamily="34" charset="0"/>
                <a:ea typeface="Cambria" pitchFamily="34" charset="-122"/>
                <a:cs typeface="Cambria" pitchFamily="34" charset="-120"/>
              </a:rPr>
              <a:t>6</a:t>
            </a:r>
            <a:endParaRPr lang="en-US" sz="4800" dirty="0"/>
          </a:p>
        </p:txBody>
      </p:sp>
      <p:sp>
        <p:nvSpPr>
          <p:cNvPr id="8" name="Text 6"/>
          <p:cNvSpPr txBox="1"/>
          <p:nvPr/>
        </p:nvSpPr>
        <p:spPr>
          <a:xfrm>
            <a:off x="1920240" y="2350008"/>
            <a:ext cx="2194560" cy="868680"/>
          </a:xfrm>
          <a:prstGeom prst="rect">
            <a:avLst/>
          </a:prstGeom>
          <a:noFill/>
          <a:ln/>
        </p:spPr>
        <p:txBody>
          <a:bodyPr wrap="square" lIns="0" tIns="0" rIns="0" bIns="0" rtlCol="0" anchor="ctr"/>
          <a:lstStyle/>
          <a:p>
            <a:pPr indent="0" marL="0">
              <a:buNone/>
            </a:pPr>
            <a:r>
              <a:rPr lang="en-US" sz="2000" dirty="0">
                <a:solidFill>
                  <a:srgbClr val="1E1E24"/>
                </a:solidFill>
              </a:rPr>
              <a:t>format-only</a:t>
            </a:r>
            <a:endParaRPr lang="en-US" sz="2000" dirty="0"/>
          </a:p>
        </p:txBody>
      </p:sp>
      <p:sp>
        <p:nvSpPr>
          <p:cNvPr id="9" name="Text 7"/>
          <p:cNvSpPr txBox="1"/>
          <p:nvPr/>
        </p:nvSpPr>
        <p:spPr>
          <a:xfrm>
            <a:off x="502920" y="3374136"/>
            <a:ext cx="1280160" cy="868680"/>
          </a:xfrm>
          <a:prstGeom prst="rect">
            <a:avLst/>
          </a:prstGeom>
          <a:noFill/>
          <a:ln/>
        </p:spPr>
        <p:txBody>
          <a:bodyPr wrap="square" lIns="0" tIns="0" rIns="0" bIns="0" rtlCol="0" anchor="ctr"/>
          <a:lstStyle/>
          <a:p>
            <a:pPr algn="r" indent="0" marL="0">
              <a:buNone/>
            </a:pPr>
            <a:r>
              <a:rPr lang="en-US" sz="4800" b="1" dirty="0">
                <a:solidFill>
                  <a:srgbClr val="1F2F4A"/>
                </a:solidFill>
                <a:latin typeface="Cambria" pitchFamily="34" charset="0"/>
                <a:ea typeface="Cambria" pitchFamily="34" charset="-122"/>
                <a:cs typeface="Cambria" pitchFamily="34" charset="-120"/>
              </a:rPr>
              <a:t>12</a:t>
            </a:r>
            <a:endParaRPr lang="en-US" sz="4800" dirty="0"/>
          </a:p>
        </p:txBody>
      </p:sp>
      <p:sp>
        <p:nvSpPr>
          <p:cNvPr id="10" name="Text 8"/>
          <p:cNvSpPr txBox="1"/>
          <p:nvPr/>
        </p:nvSpPr>
        <p:spPr>
          <a:xfrm>
            <a:off x="1920240" y="3374136"/>
            <a:ext cx="2194560" cy="868680"/>
          </a:xfrm>
          <a:prstGeom prst="rect">
            <a:avLst/>
          </a:prstGeom>
          <a:noFill/>
          <a:ln/>
        </p:spPr>
        <p:txBody>
          <a:bodyPr wrap="square" lIns="0" tIns="0" rIns="0" bIns="0" rtlCol="0" anchor="ctr"/>
          <a:lstStyle/>
          <a:p>
            <a:pPr indent="0" marL="0">
              <a:buNone/>
            </a:pPr>
            <a:r>
              <a:rPr lang="en-US" sz="2000" dirty="0">
                <a:solidFill>
                  <a:srgbClr val="1E1E24"/>
                </a:solidFill>
              </a:rPr>
              <a:t>substantive</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343400" y="1371600"/>
          <a:ext cx="7342632" cy="914400"/>
        </p:xfrm>
        <a:graphic>
          <a:graphicData uri="http://schemas.openxmlformats.org/drawingml/2006/table">
            <a:tbl>
              <a:tblPr/>
              <a:tblGrid>
                <a:gridCol w="4050792"/>
                <a:gridCol w="1097280"/>
                <a:gridCol w="1097280"/>
                <a:gridCol w="1097280"/>
              </a:tblGrid>
              <a:tr h="502920">
                <a:tc>
                  <a:txBody>
                    <a:bodyPr/>
                    <a:lstStyle/>
                    <a:p>
                      <a:pPr algn="ctr"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R</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5029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Substantive errors</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English-compliant explanations (of 70)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53</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59</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bl>
          </a:graphicData>
        </a:graphic>
      </p:graphicFrame>
      <p:sp>
        <p:nvSpPr>
          <p:cNvPr id="12" name="Text 9"/>
          <p:cNvSpPr txBox="1"/>
          <p:nvPr/>
        </p:nvSpPr>
        <p:spPr>
          <a:xfrm>
            <a:off x="4343400" y="3017520"/>
            <a:ext cx="7342632" cy="640080"/>
          </a:xfrm>
          <a:prstGeom prst="rect">
            <a:avLst/>
          </a:prstGeom>
          <a:noFill/>
          <a:ln/>
        </p:spPr>
        <p:txBody>
          <a:bodyPr wrap="square" lIns="0" tIns="0" rIns="0" bIns="0" rtlCol="0" anchor="t"/>
          <a:lstStyle/>
          <a:p>
            <a:pPr indent="0" marL="0">
              <a:buNone/>
            </a:pPr>
            <a:r>
              <a:rPr lang="en-US" sz="1800" dirty="0">
                <a:solidFill>
                  <a:srgbClr val="4A5568"/>
                </a:solidFill>
              </a:rPr>
              <a:t>R substantive: wrong relation or operation 4, misread quantity 2, arithmetic slip 1, unresolved 1</a:t>
            </a:r>
            <a:endParaRPr lang="en-US" sz="1800" dirty="0"/>
          </a:p>
        </p:txBody>
      </p:sp>
      <p:sp>
        <p:nvSpPr>
          <p:cNvPr id="13" name="Text 10"/>
          <p:cNvSpPr txBox="1"/>
          <p:nvPr/>
        </p:nvSpPr>
        <p:spPr>
          <a:xfrm>
            <a:off x="502920" y="4434840"/>
            <a:ext cx="11155680" cy="187452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Two independent AI pre-taggers (Claude, GPT), blind to each other: category agreement 206/210 (κ = 0.94), English compliance 208/210 (κ = 0.96)</a:t>
            </a:r>
            <a:endParaRPr lang="en-US" sz="1800" dirty="0"/>
          </a:p>
          <a:p>
            <a:pPr marL="342900" indent="-342900">
              <a:spcAft>
                <a:spcPts val="800"/>
              </a:spcAft>
              <a:buSzPct val="100000"/>
              <a:buChar char="•"/>
            </a:pPr>
            <a:r>
              <a:rPr lang="en-US" sz="1800" dirty="0">
                <a:solidFill>
                  <a:srgbClr val="1E1E24"/>
                </a:solidFill>
              </a:rPr>
              <a:t>Human check of 24 rows (4 disagreements + 20 seeded random); labels are AI pre-tags, human-checked on disagreements and a sample</a:t>
            </a:r>
            <a:endParaRPr lang="en-US" sz="1800" dirty="0"/>
          </a:p>
          <a:p>
            <a:pPr marL="342900" indent="-342900">
              <a:spcAft>
                <a:spcPts val="800"/>
              </a:spcAft>
              <a:buSzPct val="100000"/>
              <a:buChar char="•"/>
            </a:pPr>
            <a:r>
              <a:rPr lang="en-US" sz="1800" dirty="0">
                <a:solidFill>
                  <a:srgbClr val="1E1E24"/>
                </a:solidFill>
              </a:rPr>
              <a:t>An audit of model outputs, not of the dataset</a:t>
            </a:r>
            <a:endParaRPr lang="en-US" sz="1800" dirty="0"/>
          </a:p>
        </p:txBody>
      </p:sp>
      <p:sp>
        <p:nvSpPr>
          <p:cNvPr id="14"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results/pilot_b/audit/README.md; results/pilot_b/audit/final_audit_summary.json</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Residual format effects and an exploratory note</a:t>
            </a:r>
            <a:endParaRPr lang="en-US" sz="3000" dirty="0"/>
          </a:p>
        </p:txBody>
      </p:sp>
      <p:sp>
        <p:nvSpPr>
          <p:cNvPr id="3" name="evidence-tag"/>
          <p:cNvSpPr/>
          <p:nvPr/>
        </p:nvSpPr>
        <p:spPr>
          <a:xfrm>
            <a:off x="9357055" y="457200"/>
            <a:ext cx="2331720" cy="502920"/>
          </a:xfrm>
          <a:prstGeom prst="roundRect">
            <a:avLst>
              <a:gd name="adj" fmla="val 18182"/>
            </a:avLst>
          </a:prstGeom>
          <a:solidFill>
            <a:srgbClr val="0072B2"/>
          </a:solidFill>
          <a:ln w="12700">
            <a:solidFill>
              <a:srgbClr val="0072B2"/>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PILOT-B RESULT</a:t>
            </a:r>
            <a:endParaRPr lang="en-US" sz="1400" dirty="0"/>
          </a:p>
        </p:txBody>
      </p:sp>
      <p:sp>
        <p:nvSpPr>
          <p:cNvPr id="5" name="Shape 3"/>
          <p:cNvSpPr/>
          <p:nvPr/>
        </p:nvSpPr>
        <p:spPr>
          <a:xfrm>
            <a:off x="502920" y="1325880"/>
            <a:ext cx="5486400" cy="4206240"/>
          </a:xfrm>
          <a:prstGeom prst="roundRect">
            <a:avLst>
              <a:gd name="adj" fmla="val 1739"/>
            </a:avLst>
          </a:prstGeom>
          <a:solidFill>
            <a:srgbClr val="EEF2F7"/>
          </a:solidFill>
          <a:ln w="12700">
            <a:solidFill>
              <a:srgbClr val="EEF2F7"/>
            </a:solidFill>
            <a:prstDash val="solid"/>
          </a:ln>
        </p:spPr>
      </p:sp>
      <p:sp>
        <p:nvSpPr>
          <p:cNvPr id="6" name="Text 4"/>
          <p:cNvSpPr txBox="1"/>
          <p:nvPr/>
        </p:nvSpPr>
        <p:spPr>
          <a:xfrm>
            <a:off x="731520" y="1463040"/>
            <a:ext cx="5029200" cy="457200"/>
          </a:xfrm>
          <a:prstGeom prst="rect">
            <a:avLst/>
          </a:prstGeom>
          <a:noFill/>
          <a:ln/>
        </p:spPr>
        <p:txBody>
          <a:bodyPr wrap="square" lIns="0" tIns="0" rIns="0" bIns="0" rtlCol="0" anchor="ctr"/>
          <a:lstStyle/>
          <a:p>
            <a:pPr indent="0" marL="0">
              <a:buNone/>
            </a:pPr>
            <a:r>
              <a:rPr lang="en-US" sz="2000" b="1" dirty="0">
                <a:solidFill>
                  <a:srgbClr val="1F2F4A"/>
                </a:solidFill>
              </a:rPr>
              <a:t>Format effects shrink but do not vanish</a:t>
            </a:r>
            <a:endParaRPr lang="en-US" sz="2000" dirty="0"/>
          </a:p>
        </p:txBody>
      </p:sp>
      <p:sp>
        <p:nvSpPr>
          <p:cNvPr id="7" name="Text 5"/>
          <p:cNvSpPr txBox="1"/>
          <p:nvPr/>
        </p:nvSpPr>
        <p:spPr>
          <a:xfrm>
            <a:off x="731520" y="1965960"/>
            <a:ext cx="5029200" cy="347472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Llama: numeric endpoint agrees with strict on all 210, so its gaps are not formatting</a:t>
            </a:r>
            <a:endParaRPr lang="en-US" sz="1800" dirty="0"/>
          </a:p>
          <a:p>
            <a:pPr marL="342900" indent="-342900">
              <a:spcAft>
                <a:spcPts val="800"/>
              </a:spcAft>
              <a:buSzPct val="100000"/>
              <a:buChar char="•"/>
            </a:pPr>
            <a:r>
              <a:rPr lang="en-US" sz="1800" dirty="0">
                <a:solidFill>
                  <a:srgbClr val="1E1E24"/>
                </a:solidFill>
              </a:rPr>
              <a:t>Qwen3-4B: unlisted unit phrases (11 years old, 13 years old, 4 bags of cement) and the spelling 300 rupye cost 4 strict points</a:t>
            </a:r>
            <a:endParaRPr lang="en-US" sz="1800" dirty="0"/>
          </a:p>
          <a:p>
            <a:pPr marL="342900" indent="-342900">
              <a:spcAft>
                <a:spcPts val="800"/>
              </a:spcAft>
              <a:buSzPct val="100000"/>
              <a:buChar char="•"/>
            </a:pPr>
            <a:r>
              <a:rPr lang="en-US" sz="1800" dirty="0">
                <a:solidFill>
                  <a:srgbClr val="1E1E24"/>
                </a:solidFill>
              </a:rPr>
              <a:t>Numeric endpoint gap: trailing ₹ (FINAL: 1575 ₹) explains every strict-correct / numeric-fail case (30 Qwen3-4B, 36 Qwen3-8B); reported as pre-registered, not corrected</a:t>
            </a:r>
            <a:endParaRPr lang="en-US" sz="1800" dirty="0"/>
          </a:p>
        </p:txBody>
      </p:sp>
      <p:sp>
        <p:nvSpPr>
          <p:cNvPr id="8" name="Shape 6"/>
          <p:cNvSpPr/>
          <p:nvPr/>
        </p:nvSpPr>
        <p:spPr>
          <a:xfrm>
            <a:off x="6245352" y="1325880"/>
            <a:ext cx="5440680" cy="4206240"/>
          </a:xfrm>
          <a:prstGeom prst="roundRect">
            <a:avLst>
              <a:gd name="adj" fmla="val 1739"/>
            </a:avLst>
          </a:prstGeom>
          <a:solidFill>
            <a:srgbClr val="FDF1E6"/>
          </a:solidFill>
          <a:ln w="12700">
            <a:solidFill>
              <a:srgbClr val="FDF1E6"/>
            </a:solidFill>
            <a:prstDash val="solid"/>
          </a:ln>
        </p:spPr>
      </p:sp>
      <p:sp>
        <p:nvSpPr>
          <p:cNvPr id="9" name="Text 7"/>
          <p:cNvSpPr txBox="1"/>
          <p:nvPr/>
        </p:nvSpPr>
        <p:spPr>
          <a:xfrm>
            <a:off x="6473952" y="1463040"/>
            <a:ext cx="5029200" cy="457200"/>
          </a:xfrm>
          <a:prstGeom prst="rect">
            <a:avLst/>
          </a:prstGeom>
          <a:noFill/>
          <a:ln/>
        </p:spPr>
        <p:txBody>
          <a:bodyPr wrap="square" lIns="0" tIns="0" rIns="0" bIns="0" rtlCol="0" anchor="ctr"/>
          <a:lstStyle/>
          <a:p>
            <a:pPr indent="0" marL="0">
              <a:buNone/>
            </a:pPr>
            <a:r>
              <a:rPr lang="en-US" sz="2000" b="1" dirty="0">
                <a:solidFill>
                  <a:srgbClr val="A04400"/>
                </a:solidFill>
              </a:rPr>
              <a:t>Exploratory, not pre-registered (Llama)</a:t>
            </a:r>
            <a:endParaRPr lang="en-US" sz="2000" dirty="0"/>
          </a:p>
        </p:txBody>
      </p:sp>
      <p:sp>
        <p:nvSpPr>
          <p:cNvPr id="10" name="Text 8"/>
          <p:cNvSpPr txBox="1"/>
          <p:nvPr/>
        </p:nvSpPr>
        <p:spPr>
          <a:xfrm>
            <a:off x="6473952" y="1965960"/>
            <a:ext cx="5029200" cy="347472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1E1E24"/>
                </a:solidFill>
              </a:rPr>
              <a:t>Explains in Romanized-Hindi prose on 60/70 R and 27/70 C outputs, despite the English instruction (E: 0/70)</a:t>
            </a:r>
            <a:endParaRPr lang="en-US" sz="1800" dirty="0"/>
          </a:p>
          <a:p>
            <a:pPr marL="342900" indent="-342900">
              <a:spcAft>
                <a:spcPts val="800"/>
              </a:spcAft>
              <a:buSzPct val="100000"/>
              <a:buChar char="•"/>
            </a:pPr>
            <a:r>
              <a:rPr lang="en-US" sz="1800" dirty="0">
                <a:solidFill>
                  <a:srgbClr val="1E1E24"/>
                </a:solidFill>
              </a:rPr>
              <a:t>On C: Hindi-prose answers correct 13/27 (48%) vs 36/43 (84%) for English explanations</a:t>
            </a:r>
            <a:endParaRPr lang="en-US" sz="1800" dirty="0"/>
          </a:p>
          <a:p>
            <a:pPr marL="342900" indent="-342900">
              <a:spcAft>
                <a:spcPts val="800"/>
              </a:spcAft>
              <a:buSzPct val="100000"/>
              <a:buChar char="•"/>
            </a:pPr>
            <a:r>
              <a:rPr lang="en-US" sz="1800" dirty="0">
                <a:solidFill>
                  <a:srgbClr val="1E1E24"/>
                </a:solidFill>
              </a:rPr>
              <a:t>Observational: harder items may trigger both</a:t>
            </a:r>
            <a:endParaRPr lang="en-US" sz="1800" dirty="0"/>
          </a:p>
        </p:txBody>
      </p:sp>
      <p:sp>
        <p:nvSpPr>
          <p:cNvPr id="11"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results/pilot_b/SUMMARY.md; results/pilot_b/{qwen3-4b,qwen3-8b,llama-3.2-3b}/RESULTS.md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Original cohort replicates the direction</a:t>
            </a:r>
            <a:endParaRPr lang="en-US" sz="3000" dirty="0"/>
          </a:p>
        </p:txBody>
      </p:sp>
      <p:sp>
        <p:nvSpPr>
          <p:cNvPr id="3" name="evidence-tag"/>
          <p:cNvSpPr/>
          <p:nvPr/>
        </p:nvSpPr>
        <p:spPr>
          <a:xfrm>
            <a:off x="9357055" y="457200"/>
            <a:ext cx="2331720" cy="502920"/>
          </a:xfrm>
          <a:prstGeom prst="roundRect">
            <a:avLst>
              <a:gd name="adj" fmla="val 18182"/>
            </a:avLst>
          </a:prstGeom>
          <a:solidFill>
            <a:srgbClr val="8E4A73"/>
          </a:solidFill>
          <a:ln w="12700">
            <a:solidFill>
              <a:srgbClr val="8E4A73"/>
            </a:solidFill>
            <a:prstDash val="solid"/>
          </a:ln>
        </p:spPr>
      </p:sp>
      <p:sp>
        <p:nvSpPr>
          <p:cNvPr id="4" name="evidence-tag-text"/>
          <p:cNvSpPr txBox="1"/>
          <p:nvPr/>
        </p:nvSpPr>
        <p:spPr>
          <a:xfrm>
            <a:off x="9357055" y="457200"/>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rPr>
              <a:t>ORIGINAL-PILOT RESULT</a:t>
            </a:r>
            <a:endParaRPr lang="en-US" sz="1400" dirty="0"/>
          </a:p>
        </p:txBody>
      </p:sp>
      <p:pic>
        <p:nvPicPr>
          <p:cNvPr id="5" name="Image 0" descr="Original 24-family cohort: strict accuracy by form with 95% Wilson intervals for three models">    </p:cNvPr>
          <p:cNvPicPr>
            <a:picLocks noChangeAspect="1"/>
          </p:cNvPicPr>
          <p:nvPr/>
        </p:nvPicPr>
        <p:blipFill>
          <a:blip r:embed="rId1"/>
          <a:stretch>
            <a:fillRect/>
          </a:stretch>
        </p:blipFill>
        <p:spPr>
          <a:xfrm>
            <a:off x="2148840" y="1143000"/>
            <a:ext cx="7863840" cy="2837536"/>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83112" cy="914400"/>
        </p:xfrm>
        <a:graphic>
          <a:graphicData uri="http://schemas.openxmlformats.org/drawingml/2006/table">
            <a:tbl>
              <a:tblPr/>
              <a:tblGrid>
                <a:gridCol w="3502152"/>
                <a:gridCol w="2560320"/>
                <a:gridCol w="2560320"/>
                <a:gridCol w="2560320"/>
              </a:tblGrid>
              <a:tr h="36576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Paired difference, pp [95%]</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 − R</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 − C</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R − C</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F2F4A"/>
                    </a:solidFill>
                  </a:tcPr>
                </a:tc>
              </a:tr>
              <a:tr h="36576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Qwen3-4B (primary)</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+8.3 [0.0, +20.8]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0.0 [0.0, 0.0]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−8.3 [−20.8, 0.0]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r h="36576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Qwen3-8B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+4.2 [0.0, +12.5]</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0.0 [0.0, 0.0]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−4.2 [−12.5, 0.0]</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7F9FC"/>
                    </a:solidFill>
                  </a:tcPr>
                </a:tc>
              </a:tr>
              <a:tr h="365760">
                <a:tc>
                  <a:txBody>
                    <a:bodyPr/>
                    <a:lstStyle/>
                    <a:p>
                      <a:pPr algn="l" indent="0" marL="0">
                        <a:buNone/>
                      </a:pPr>
                      <a:r>
                        <a:rPr lang="en-US" sz="1800" dirty="0">
                          <a:solidFill>
                            <a:srgbClr val="1E1E24"/>
                          </a:solidFill>
                          <a:latin typeface="Calibri" pitchFamily="34" charset="0"/>
                          <a:ea typeface="Calibri" pitchFamily="34" charset="-122"/>
                          <a:cs typeface="Calibri" pitchFamily="34" charset="-120"/>
                        </a:rPr>
                        <a:t>Llama-3.2-3B</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+25.0 [+4.2, +45.8]</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−4.2 [−16.7, +8.3]</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1E24"/>
                          </a:solidFill>
                          <a:latin typeface="Calibri" pitchFamily="34" charset="0"/>
                          <a:ea typeface="Calibri" pitchFamily="34" charset="-122"/>
                          <a:cs typeface="Calibri" pitchFamily="34" charset="-120"/>
                        </a:rPr>
                        <a:t>−29.2 [−45.8, −12.5]</a:t>
                      </a:r>
                      <a:endParaRPr lang="en-US" sz="1800" dirty="0">
                        <a:latin typeface="Calibri" charset="0"/>
                        <a:ea typeface="Calibri" charset="0"/>
                        <a:cs typeface="Calibri" charset="0"/>
                      </a:endParaRPr>
                    </a:p>
                  </a:txBody>
                  <a:tcPr marL="76200" marR="76200" marT="38100" marB="38100"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02920" y="5623560"/>
            <a:ext cx="11155680" cy="685800"/>
          </a:xfrm>
          <a:prstGeom prst="rect">
            <a:avLst/>
          </a:prstGeom>
          <a:noFill/>
          <a:ln/>
        </p:spPr>
        <p:txBody>
          <a:bodyPr wrap="square" lIns="0" tIns="0" rIns="0" bIns="0" rtlCol="0" anchor="t"/>
          <a:lstStyle/>
          <a:p>
            <a:pPr indent="0" marL="0">
              <a:buNone/>
            </a:pPr>
            <a:r>
              <a:rPr lang="en-US" sz="1800" dirty="0">
                <a:solidFill>
                  <a:srgbClr val="1E1E24"/>
                </a:solidFill>
              </a:rPr>
              <a:t>24 families, 72/72 per model, 0 strict-invalid. Qwen near ceiling (E 100%); zero-width intervals at ceiling are not evidence of equivalence. Never pooled with Pilot-B.</a:t>
            </a:r>
            <a:endParaRPr lang="en-US" sz="1800" dirty="0"/>
          </a:p>
        </p:txBody>
      </p:sp>
      <p:sp>
        <p:nvSpPr>
          <p:cNvPr id="8"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results/pilot_original/SUMMARY.md; figure report/figures/original_cohort_accuracy.pdf</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641080" cy="777240"/>
          </a:xfrm>
          <a:prstGeom prst="rect">
            <a:avLst/>
          </a:prstGeom>
          <a:noFill/>
          <a:ln/>
        </p:spPr>
        <p:txBody>
          <a:bodyPr wrap="square" lIns="0" tIns="0" rIns="0" bIns="0" rtlCol="0" anchor="ctr"/>
          <a:lstStyle/>
          <a:p>
            <a:pPr algn="l" indent="0" marL="0">
              <a:buNone/>
            </a:pPr>
            <a:r>
              <a:rPr lang="en-US" sz="3000" b="1" dirty="0">
                <a:solidFill>
                  <a:srgbClr val="1F2F4A"/>
                </a:solidFill>
                <a:latin typeface="Cambria" pitchFamily="34" charset="0"/>
                <a:ea typeface="Cambria" pitchFamily="34" charset="-122"/>
                <a:cs typeface="Cambria" pitchFamily="34" charset="-120"/>
              </a:rPr>
              <a:t>Limitations</a:t>
            </a:r>
            <a:endParaRPr lang="en-US" sz="3000" dirty="0"/>
          </a:p>
        </p:txBody>
      </p:sp>
      <p:sp>
        <p:nvSpPr>
          <p:cNvPr id="3" name="Shape 1"/>
          <p:cNvSpPr/>
          <p:nvPr/>
        </p:nvSpPr>
        <p:spPr>
          <a:xfrm>
            <a:off x="502920" y="1371600"/>
            <a:ext cx="3566160" cy="2103120"/>
          </a:xfrm>
          <a:prstGeom prst="roundRect">
            <a:avLst>
              <a:gd name="adj" fmla="val 3478"/>
            </a:avLst>
          </a:prstGeom>
          <a:solidFill>
            <a:srgbClr val="EEF2F7"/>
          </a:solidFill>
          <a:ln w="12700">
            <a:solidFill>
              <a:srgbClr val="EEF2F7"/>
            </a:solidFill>
            <a:prstDash val="solid"/>
          </a:ln>
        </p:spPr>
      </p:sp>
      <p:sp>
        <p:nvSpPr>
          <p:cNvPr id="4" name="Text 2"/>
          <p:cNvSpPr txBox="1"/>
          <p:nvPr/>
        </p:nvSpPr>
        <p:spPr>
          <a:xfrm>
            <a:off x="685800" y="150876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Scale</a:t>
            </a:r>
            <a:endParaRPr lang="en-US" sz="1800" dirty="0"/>
          </a:p>
          <a:p>
            <a:pPr indent="0" marL="0">
              <a:spcAft>
                <a:spcPts val="400"/>
              </a:spcAft>
              <a:buNone/>
            </a:pPr>
            <a:r>
              <a:rPr lang="en-US" sz="1800" dirty="0">
                <a:solidFill>
                  <a:srgbClr val="1E1E24"/>
                </a:solidFill>
              </a:rPr>
              <a:t>Diagnostic: 70 + 24 families; strata of 17–35</a:t>
            </a:r>
            <a:endParaRPr lang="en-US" sz="1800" dirty="0"/>
          </a:p>
        </p:txBody>
      </p:sp>
      <p:sp>
        <p:nvSpPr>
          <p:cNvPr id="5" name="Shape 3"/>
          <p:cNvSpPr/>
          <p:nvPr/>
        </p:nvSpPr>
        <p:spPr>
          <a:xfrm>
            <a:off x="4306824" y="1371600"/>
            <a:ext cx="3566160" cy="2103120"/>
          </a:xfrm>
          <a:prstGeom prst="roundRect">
            <a:avLst>
              <a:gd name="adj" fmla="val 3478"/>
            </a:avLst>
          </a:prstGeom>
          <a:solidFill>
            <a:srgbClr val="EEF2F7"/>
          </a:solidFill>
          <a:ln w="12700">
            <a:solidFill>
              <a:srgbClr val="EEF2F7"/>
            </a:solidFill>
            <a:prstDash val="solid"/>
          </a:ln>
        </p:spPr>
      </p:sp>
      <p:sp>
        <p:nvSpPr>
          <p:cNvPr id="6" name="Text 4"/>
          <p:cNvSpPr txBox="1"/>
          <p:nvPr/>
        </p:nvSpPr>
        <p:spPr>
          <a:xfrm>
            <a:off x="4489704" y="150876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Review</a:t>
            </a:r>
            <a:endParaRPr lang="en-US" sz="1800" dirty="0"/>
          </a:p>
          <a:p>
            <a:pPr indent="0" marL="0">
              <a:spcAft>
                <a:spcPts val="400"/>
              </a:spcAft>
              <a:buNone/>
            </a:pPr>
            <a:r>
              <a:rPr lang="en-US" sz="1800" dirty="0">
                <a:solidFill>
                  <a:srgbClr val="1E1E24"/>
                </a:solidFill>
              </a:rPr>
              <a:t>Single bilingual reviewer for Pilot-B and FINAL_TEST; TRAIN/DEV sample-reviewed; original pilot: one human language reviewer + adjudicator</a:t>
            </a:r>
            <a:endParaRPr lang="en-US" sz="1800" dirty="0"/>
          </a:p>
        </p:txBody>
      </p:sp>
      <p:sp>
        <p:nvSpPr>
          <p:cNvPr id="7" name="Shape 5"/>
          <p:cNvSpPr/>
          <p:nvPr/>
        </p:nvSpPr>
        <p:spPr>
          <a:xfrm>
            <a:off x="8110728" y="1371600"/>
            <a:ext cx="3566160" cy="2103120"/>
          </a:xfrm>
          <a:prstGeom prst="roundRect">
            <a:avLst>
              <a:gd name="adj" fmla="val 3478"/>
            </a:avLst>
          </a:prstGeom>
          <a:solidFill>
            <a:srgbClr val="EEF2F7"/>
          </a:solidFill>
          <a:ln w="12700">
            <a:solidFill>
              <a:srgbClr val="EEF2F7"/>
            </a:solidFill>
            <a:prstDash val="solid"/>
          </a:ln>
        </p:spPr>
      </p:sp>
      <p:sp>
        <p:nvSpPr>
          <p:cNvPr id="8" name="Text 6"/>
          <p:cNvSpPr txBox="1"/>
          <p:nvPr/>
        </p:nvSpPr>
        <p:spPr>
          <a:xfrm>
            <a:off x="8293608" y="150876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AI-drafted items</a:t>
            </a:r>
            <a:endParaRPr lang="en-US" sz="1800" dirty="0"/>
          </a:p>
          <a:p>
            <a:pPr indent="0" marL="0">
              <a:spcAft>
                <a:spcPts val="400"/>
              </a:spcAft>
              <a:buNone/>
            </a:pPr>
            <a:r>
              <a:rPr lang="en-US" sz="1800" dirty="0">
                <a:solidFill>
                  <a:srgbClr val="1E1E24"/>
                </a:solidFill>
              </a:rPr>
              <a:t>Claude drafted and solved Pilot-B; original R/C GPT-translated; different C definitions across cohorts</a:t>
            </a:r>
            <a:endParaRPr lang="en-US" sz="1800" dirty="0"/>
          </a:p>
        </p:txBody>
      </p:sp>
      <p:sp>
        <p:nvSpPr>
          <p:cNvPr id="9" name="Shape 7"/>
          <p:cNvSpPr/>
          <p:nvPr/>
        </p:nvSpPr>
        <p:spPr>
          <a:xfrm>
            <a:off x="502920" y="3749040"/>
            <a:ext cx="3566160" cy="2103120"/>
          </a:xfrm>
          <a:prstGeom prst="roundRect">
            <a:avLst>
              <a:gd name="adj" fmla="val 3478"/>
            </a:avLst>
          </a:prstGeom>
          <a:solidFill>
            <a:srgbClr val="EEF2F7"/>
          </a:solidFill>
          <a:ln w="12700">
            <a:solidFill>
              <a:srgbClr val="EEF2F7"/>
            </a:solidFill>
            <a:prstDash val="solid"/>
          </a:ln>
        </p:spPr>
      </p:sp>
      <p:sp>
        <p:nvSpPr>
          <p:cNvPr id="10" name="Text 8"/>
          <p:cNvSpPr txBox="1"/>
          <p:nvPr/>
        </p:nvSpPr>
        <p:spPr>
          <a:xfrm>
            <a:off x="685800" y="388620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Models</a:t>
            </a:r>
            <a:endParaRPr lang="en-US" sz="1800" dirty="0"/>
          </a:p>
          <a:p>
            <a:pPr indent="0" marL="0">
              <a:spcAft>
                <a:spcPts val="400"/>
              </a:spcAft>
              <a:buNone/>
            </a:pPr>
            <a:r>
              <a:rPr lang="en-US" sz="1800" dirty="0">
                <a:solidFill>
                  <a:srgbClr val="1E1E24"/>
                </a:solidFill>
              </a:rPr>
              <a:t>Small, 4-bit, greedy, non-thinking; screening excluded 4 of 7</a:t>
            </a:r>
            <a:endParaRPr lang="en-US" sz="1800" dirty="0"/>
          </a:p>
        </p:txBody>
      </p:sp>
      <p:sp>
        <p:nvSpPr>
          <p:cNvPr id="11" name="Shape 9"/>
          <p:cNvSpPr/>
          <p:nvPr/>
        </p:nvSpPr>
        <p:spPr>
          <a:xfrm>
            <a:off x="4306824" y="3749040"/>
            <a:ext cx="3566160" cy="2103120"/>
          </a:xfrm>
          <a:prstGeom prst="roundRect">
            <a:avLst>
              <a:gd name="adj" fmla="val 3478"/>
            </a:avLst>
          </a:prstGeom>
          <a:solidFill>
            <a:srgbClr val="EEF2F7"/>
          </a:solidFill>
          <a:ln w="12700">
            <a:solidFill>
              <a:srgbClr val="EEF2F7"/>
            </a:solidFill>
            <a:prstDash val="solid"/>
          </a:ln>
        </p:spPr>
      </p:sp>
      <p:sp>
        <p:nvSpPr>
          <p:cNvPr id="12" name="Text 10"/>
          <p:cNvSpPr txBox="1"/>
          <p:nvPr/>
        </p:nvSpPr>
        <p:spPr>
          <a:xfrm>
            <a:off x="4489704" y="388620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No Devanagari arm</a:t>
            </a:r>
            <a:endParaRPr lang="en-US" sz="1800" dirty="0"/>
          </a:p>
          <a:p>
            <a:pPr indent="0" marL="0">
              <a:spcAft>
                <a:spcPts val="400"/>
              </a:spcAft>
              <a:buNone/>
            </a:pPr>
            <a:r>
              <a:rPr lang="en-US" sz="1800" dirty="0">
                <a:solidFill>
                  <a:srgbClr val="1E1E24"/>
                </a:solidFill>
              </a:rPr>
              <a:t>R gap mixes script, vocabulary, register, spelling; contamination cannot be audited</a:t>
            </a:r>
            <a:endParaRPr lang="en-US" sz="1800" dirty="0"/>
          </a:p>
        </p:txBody>
      </p:sp>
      <p:sp>
        <p:nvSpPr>
          <p:cNvPr id="13" name="Shape 11"/>
          <p:cNvSpPr/>
          <p:nvPr/>
        </p:nvSpPr>
        <p:spPr>
          <a:xfrm>
            <a:off x="8110728" y="3749040"/>
            <a:ext cx="3566160" cy="2103120"/>
          </a:xfrm>
          <a:prstGeom prst="roundRect">
            <a:avLst>
              <a:gd name="adj" fmla="val 3478"/>
            </a:avLst>
          </a:prstGeom>
          <a:solidFill>
            <a:srgbClr val="EEF2F7"/>
          </a:solidFill>
          <a:ln w="12700">
            <a:solidFill>
              <a:srgbClr val="EEF2F7"/>
            </a:solidFill>
            <a:prstDash val="solid"/>
          </a:ln>
        </p:spPr>
      </p:sp>
      <p:sp>
        <p:nvSpPr>
          <p:cNvPr id="14" name="Text 12"/>
          <p:cNvSpPr txBox="1"/>
          <p:nvPr/>
        </p:nvSpPr>
        <p:spPr>
          <a:xfrm>
            <a:off x="8293608" y="3886200"/>
            <a:ext cx="3200400" cy="1828800"/>
          </a:xfrm>
          <a:prstGeom prst="rect">
            <a:avLst/>
          </a:prstGeom>
          <a:noFill/>
          <a:ln/>
        </p:spPr>
        <p:txBody>
          <a:bodyPr wrap="square" lIns="0" tIns="0" rIns="0" bIns="0" rtlCol="0" anchor="t"/>
          <a:lstStyle/>
          <a:p>
            <a:pPr indent="0" marL="0">
              <a:spcAft>
                <a:spcPts val="400"/>
              </a:spcAft>
              <a:buNone/>
            </a:pPr>
            <a:r>
              <a:rPr lang="en-US" sz="1800" b="1" dirty="0">
                <a:solidFill>
                  <a:srgbClr val="1F2F4A"/>
                </a:solidFill>
              </a:rPr>
              <a:t>Audit</a:t>
            </a:r>
            <a:endParaRPr lang="en-US" sz="1800" dirty="0"/>
          </a:p>
          <a:p>
            <a:pPr indent="0" marL="0">
              <a:spcAft>
                <a:spcPts val="400"/>
              </a:spcAft>
              <a:buNone/>
            </a:pPr>
            <a:r>
              <a:rPr lang="en-US" sz="1800" dirty="0">
                <a:solidFill>
                  <a:srgbClr val="1E1E24"/>
                </a:solidFill>
              </a:rPr>
              <a:t>AI pre-tags, human-checked on 24/210; primary backbone only</a:t>
            </a:r>
            <a:endParaRPr lang="en-US" sz="1800" dirty="0"/>
          </a:p>
        </p:txBody>
      </p:sp>
      <p:sp>
        <p:nvSpPr>
          <p:cNvPr id="15" name="source"/>
          <p:cNvSpPr txBox="1"/>
          <p:nvPr/>
        </p:nvSpPr>
        <p:spPr>
          <a:xfrm>
            <a:off x="502920" y="6400800"/>
            <a:ext cx="10545775" cy="274320"/>
          </a:xfrm>
          <a:prstGeom prst="rect">
            <a:avLst/>
          </a:prstGeom>
          <a:noFill/>
          <a:ln/>
        </p:spPr>
        <p:txBody>
          <a:bodyPr wrap="square" lIns="0" tIns="0" rIns="0" bIns="0" rtlCol="0" anchor="ctr"/>
          <a:lstStyle/>
          <a:p>
            <a:pPr indent="0" marL="0">
              <a:buNone/>
            </a:pPr>
            <a:r>
              <a:rPr lang="en-US" sz="1200" dirty="0">
                <a:solidFill>
                  <a:srgbClr val="4A5568"/>
                </a:solidFill>
              </a:rPr>
              <a:t>Source: docs/minor_project/slides_outline.md; docs/DECISIONS.md (D035–D038); results/pilot_b/audit/README.md</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56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65760"/>
            <a:ext cx="1097280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Status and plan to May 2027</a:t>
            </a:r>
            <a:endParaRPr lang="en-US" sz="3000" dirty="0"/>
          </a:p>
        </p:txBody>
      </p:sp>
      <p:sp>
        <p:nvSpPr>
          <p:cNvPr id="3" name="Text 1"/>
          <p:cNvSpPr txBox="1"/>
          <p:nvPr/>
        </p:nvSpPr>
        <p:spPr>
          <a:xfrm>
            <a:off x="502920" y="1280160"/>
            <a:ext cx="5303520" cy="411480"/>
          </a:xfrm>
          <a:prstGeom prst="rect">
            <a:avLst/>
          </a:prstGeom>
          <a:noFill/>
          <a:ln/>
        </p:spPr>
        <p:txBody>
          <a:bodyPr wrap="square" lIns="0" tIns="0" rIns="0" bIns="0" rtlCol="0" anchor="ctr"/>
          <a:lstStyle/>
          <a:p>
            <a:pPr indent="0" marL="0">
              <a:buNone/>
            </a:pPr>
            <a:r>
              <a:rPr lang="en-US" sz="2200" b="1" dirty="0">
                <a:solidFill>
                  <a:srgbClr val="CADCFC"/>
                </a:solidFill>
              </a:rPr>
              <a:t>Done</a:t>
            </a:r>
            <a:endParaRPr lang="en-US" sz="2200" dirty="0"/>
          </a:p>
        </p:txBody>
      </p:sp>
      <p:sp>
        <p:nvSpPr>
          <p:cNvPr id="4" name="Text 2"/>
          <p:cNvSpPr txBox="1"/>
          <p:nvPr/>
        </p:nvSpPr>
        <p:spPr>
          <a:xfrm>
            <a:off x="502920" y="1737360"/>
            <a:ext cx="5303520" cy="3291840"/>
          </a:xfrm>
          <a:prstGeom prst="rect">
            <a:avLst/>
          </a:prstGeom>
          <a:noFill/>
          <a:ln/>
        </p:spPr>
        <p:txBody>
          <a:bodyPr wrap="square" lIns="25400" tIns="0" rIns="50800" bIns="25400" rtlCol="0" anchor="t"/>
          <a:lstStyle/>
          <a:p>
            <a:pPr marL="342900" indent="-342900">
              <a:spcAft>
                <a:spcPts val="800"/>
              </a:spcAft>
              <a:buSzPct val="100000"/>
              <a:buChar char="•"/>
            </a:pPr>
            <a:r>
              <a:rPr lang="en-US" sz="1800" dirty="0">
                <a:solidFill>
                  <a:srgbClr val="FFFFFF"/>
                </a:solidFill>
              </a:rPr>
              <a:t>Pilot-B: 3 models, 210/210 each, checksum-verified</a:t>
            </a:r>
            <a:endParaRPr lang="en-US" sz="1800" dirty="0"/>
          </a:p>
          <a:p>
            <a:pPr marL="342900" indent="-342900">
              <a:spcAft>
                <a:spcPts val="800"/>
              </a:spcAft>
              <a:buSzPct val="100000"/>
              <a:buChar char="•"/>
            </a:pPr>
            <a:r>
              <a:rPr lang="en-US" sz="1800" dirty="0">
                <a:solidFill>
                  <a:srgbClr val="FFFFFF"/>
                </a:solidFill>
              </a:rPr>
              <a:t>Original 24-family cohort: 3 models, 72/72 each</a:t>
            </a:r>
            <a:endParaRPr lang="en-US" sz="1800" dirty="0"/>
          </a:p>
          <a:p>
            <a:pPr marL="342900" indent="-342900">
              <a:spcAft>
                <a:spcPts val="800"/>
              </a:spcAft>
              <a:buSzPct val="100000"/>
              <a:buChar char="•"/>
            </a:pPr>
            <a:r>
              <a:rPr lang="en-US" sz="1800" dirty="0">
                <a:solidFill>
                  <a:srgbClr val="FFFFFF"/>
                </a:solidFill>
              </a:rPr>
              <a:t>Qwen3-4B output audit (endpoint 6)</a:t>
            </a:r>
            <a:endParaRPr lang="en-US" sz="1800" dirty="0"/>
          </a:p>
          <a:p>
            <a:pPr marL="342900" indent="-342900">
              <a:spcAft>
                <a:spcPts val="800"/>
              </a:spcAft>
              <a:buSzPct val="100000"/>
              <a:buChar char="•"/>
            </a:pPr>
            <a:r>
              <a:rPr lang="en-US" sz="1800" dirty="0">
                <a:solidFill>
                  <a:srgbClr val="FFFFFF"/>
                </a:solidFill>
              </a:rPr>
              <a:t>EACL 2027 SRW pre-submission mentorship: submitted 26 Oct on OpenReview (Submission #12)</a:t>
            </a:r>
            <a:endParaRPr lang="en-US" sz="1800" dirty="0"/>
          </a:p>
        </p:txBody>
      </p:sp>
      <p:sp>
        <p:nvSpPr>
          <p:cNvPr id="5" name="Text 3"/>
          <p:cNvSpPr txBox="1"/>
          <p:nvPr/>
        </p:nvSpPr>
        <p:spPr>
          <a:xfrm>
            <a:off x="6263640" y="1280160"/>
            <a:ext cx="5394960" cy="411480"/>
          </a:xfrm>
          <a:prstGeom prst="rect">
            <a:avLst/>
          </a:prstGeom>
          <a:noFill/>
          <a:ln/>
        </p:spPr>
        <p:txBody>
          <a:bodyPr wrap="square" lIns="0" tIns="0" rIns="0" bIns="0" rtlCol="0" anchor="ctr"/>
          <a:lstStyle/>
          <a:p>
            <a:pPr indent="0" marL="0">
              <a:buNone/>
            </a:pPr>
            <a:r>
              <a:rPr lang="en-US" sz="2200" b="1" dirty="0">
                <a:solidFill>
                  <a:srgbClr val="CADCFC"/>
                </a:solidFill>
              </a:rPr>
              <a:t>Next</a:t>
            </a:r>
            <a:endParaRPr lang="en-US" sz="2200" dirty="0"/>
          </a:p>
        </p:txBody>
      </p:sp>
      <p:sp>
        <p:nvSpPr>
          <p:cNvPr id="6" name="Shape 4"/>
          <p:cNvSpPr/>
          <p:nvPr/>
        </p:nvSpPr>
        <p:spPr>
          <a:xfrm>
            <a:off x="6263640" y="1828800"/>
            <a:ext cx="201168" cy="201168"/>
          </a:xfrm>
          <a:prstGeom prst="ellipse">
            <a:avLst/>
          </a:prstGeom>
          <a:solidFill>
            <a:srgbClr val="E69F00"/>
          </a:solidFill>
          <a:ln w="12700">
            <a:solidFill>
              <a:srgbClr val="E69F00"/>
            </a:solidFill>
            <a:prstDash val="solid"/>
          </a:ln>
        </p:spPr>
      </p:sp>
      <p:sp>
        <p:nvSpPr>
          <p:cNvPr id="7" name="Text 5"/>
          <p:cNvSpPr txBox="1"/>
          <p:nvPr/>
        </p:nvSpPr>
        <p:spPr>
          <a:xfrm>
            <a:off x="6629400" y="1737360"/>
            <a:ext cx="5074920" cy="731520"/>
          </a:xfrm>
          <a:prstGeom prst="rect">
            <a:avLst/>
          </a:prstGeom>
          <a:noFill/>
          <a:ln/>
        </p:spPr>
        <p:txBody>
          <a:bodyPr wrap="square" lIns="0" tIns="0" rIns="0" bIns="0" rtlCol="0" anchor="t"/>
          <a:lstStyle/>
          <a:p>
            <a:pPr indent="0" marL="0">
              <a:buNone/>
            </a:pPr>
            <a:r>
              <a:rPr lang="en-US" sz="1800" b="1" dirty="0">
                <a:solidFill>
                  <a:srgbClr val="E69F00"/>
                </a:solidFill>
              </a:rPr>
              <a:t>5 Dec 2026  </a:t>
            </a:r>
            <a:pPr indent="0" marL="0">
              <a:buNone/>
            </a:pPr>
            <a:r>
              <a:rPr lang="en-US" sz="1800" dirty="0">
                <a:solidFill>
                  <a:srgbClr val="FFFFFF"/>
                </a:solidFill>
              </a:rPr>
              <a:t>Mentor feedback due</a:t>
            </a:r>
            <a:endParaRPr lang="en-US" sz="1800" dirty="0"/>
          </a:p>
        </p:txBody>
      </p:sp>
      <p:sp>
        <p:nvSpPr>
          <p:cNvPr id="8" name="Shape 6"/>
          <p:cNvSpPr/>
          <p:nvPr/>
        </p:nvSpPr>
        <p:spPr>
          <a:xfrm>
            <a:off x="6263640" y="2615184"/>
            <a:ext cx="201168" cy="201168"/>
          </a:xfrm>
          <a:prstGeom prst="ellipse">
            <a:avLst/>
          </a:prstGeom>
          <a:solidFill>
            <a:srgbClr val="E69F00"/>
          </a:solidFill>
          <a:ln w="12700">
            <a:solidFill>
              <a:srgbClr val="E69F00"/>
            </a:solidFill>
            <a:prstDash val="solid"/>
          </a:ln>
        </p:spPr>
      </p:sp>
      <p:sp>
        <p:nvSpPr>
          <p:cNvPr id="9" name="Text 7"/>
          <p:cNvSpPr txBox="1"/>
          <p:nvPr/>
        </p:nvSpPr>
        <p:spPr>
          <a:xfrm>
            <a:off x="6629400" y="2523744"/>
            <a:ext cx="5074920" cy="731520"/>
          </a:xfrm>
          <a:prstGeom prst="rect">
            <a:avLst/>
          </a:prstGeom>
          <a:noFill/>
          <a:ln/>
        </p:spPr>
        <p:txBody>
          <a:bodyPr wrap="square" lIns="0" tIns="0" rIns="0" bIns="0" rtlCol="0" anchor="t"/>
          <a:lstStyle/>
          <a:p>
            <a:pPr indent="0" marL="0">
              <a:buNone/>
            </a:pPr>
            <a:r>
              <a:rPr lang="en-US" sz="1800" b="1" dirty="0">
                <a:solidFill>
                  <a:srgbClr val="E69F00"/>
                </a:solidFill>
              </a:rPr>
              <a:t>15 Dec 2026  </a:t>
            </a:r>
            <a:pPr indent="0" marL="0">
              <a:buNone/>
            </a:pPr>
            <a:r>
              <a:rPr lang="en-US" sz="1800" dirty="0">
                <a:solidFill>
                  <a:srgbClr val="FFFFFF"/>
                </a:solidFill>
              </a:rPr>
              <a:t>Final paper: new submission to the SRW track</a:t>
            </a:r>
            <a:endParaRPr lang="en-US" sz="1800" dirty="0"/>
          </a:p>
        </p:txBody>
      </p:sp>
      <p:sp>
        <p:nvSpPr>
          <p:cNvPr id="10" name="Shape 8"/>
          <p:cNvSpPr/>
          <p:nvPr/>
        </p:nvSpPr>
        <p:spPr>
          <a:xfrm>
            <a:off x="6263640" y="3401568"/>
            <a:ext cx="201168" cy="201168"/>
          </a:xfrm>
          <a:prstGeom prst="ellipse">
            <a:avLst/>
          </a:prstGeom>
          <a:solidFill>
            <a:srgbClr val="E69F00"/>
          </a:solidFill>
          <a:ln w="12700">
            <a:solidFill>
              <a:srgbClr val="E69F00"/>
            </a:solidFill>
            <a:prstDash val="solid"/>
          </a:ln>
        </p:spPr>
      </p:sp>
      <p:sp>
        <p:nvSpPr>
          <p:cNvPr id="11" name="Text 9"/>
          <p:cNvSpPr txBox="1"/>
          <p:nvPr/>
        </p:nvSpPr>
        <p:spPr>
          <a:xfrm>
            <a:off x="6629400" y="3310128"/>
            <a:ext cx="5074920" cy="731520"/>
          </a:xfrm>
          <a:prstGeom prst="rect">
            <a:avLst/>
          </a:prstGeom>
          <a:noFill/>
          <a:ln/>
        </p:spPr>
        <p:txBody>
          <a:bodyPr wrap="square" lIns="0" tIns="0" rIns="0" bIns="0" rtlCol="0" anchor="t"/>
          <a:lstStyle/>
          <a:p>
            <a:pPr indent="0" marL="0">
              <a:buNone/>
            </a:pPr>
            <a:r>
              <a:rPr lang="en-US" sz="1800" b="1" dirty="0">
                <a:solidFill>
                  <a:srgbClr val="E69F00"/>
                </a:solidFill>
              </a:rPr>
              <a:t>Dec–Jan  </a:t>
            </a:r>
            <a:pPr indent="0" marL="0">
              <a:buNone/>
            </a:pPr>
            <a:r>
              <a:rPr lang="en-US" sz="1800" dirty="0">
                <a:solidFill>
                  <a:srgbClr val="FFFFFF"/>
                </a:solidFill>
              </a:rPr>
              <a:t>T4 training feasibility smoke test; second-annotator sample</a:t>
            </a:r>
            <a:endParaRPr lang="en-US" sz="1800" dirty="0"/>
          </a:p>
        </p:txBody>
      </p:sp>
      <p:sp>
        <p:nvSpPr>
          <p:cNvPr id="12" name="Shape 10"/>
          <p:cNvSpPr/>
          <p:nvPr/>
        </p:nvSpPr>
        <p:spPr>
          <a:xfrm>
            <a:off x="6263640" y="4187952"/>
            <a:ext cx="201168" cy="201168"/>
          </a:xfrm>
          <a:prstGeom prst="ellipse">
            <a:avLst/>
          </a:prstGeom>
          <a:solidFill>
            <a:srgbClr val="E69F00"/>
          </a:solidFill>
          <a:ln w="12700">
            <a:solidFill>
              <a:srgbClr val="E69F00"/>
            </a:solidFill>
            <a:prstDash val="solid"/>
          </a:ln>
        </p:spPr>
      </p:sp>
      <p:sp>
        <p:nvSpPr>
          <p:cNvPr id="13" name="Text 11"/>
          <p:cNvSpPr txBox="1"/>
          <p:nvPr/>
        </p:nvSpPr>
        <p:spPr>
          <a:xfrm>
            <a:off x="6629400" y="4096512"/>
            <a:ext cx="5074920" cy="731520"/>
          </a:xfrm>
          <a:prstGeom prst="rect">
            <a:avLst/>
          </a:prstGeom>
          <a:noFill/>
          <a:ln/>
        </p:spPr>
        <p:txBody>
          <a:bodyPr wrap="square" lIns="0" tIns="0" rIns="0" bIns="0" rtlCol="0" anchor="t"/>
          <a:lstStyle/>
          <a:p>
            <a:pPr indent="0" marL="0">
              <a:buNone/>
            </a:pPr>
            <a:r>
              <a:rPr lang="en-US" sz="1800" b="1" dirty="0">
                <a:solidFill>
                  <a:srgbClr val="E69F00"/>
                </a:solidFill>
              </a:rPr>
              <a:t>Feb–Mar  </a:t>
            </a:r>
            <a:pPr indent="0" marL="0">
              <a:buNone/>
            </a:pPr>
            <a:r>
              <a:rPr lang="en-US" sz="1800" dirty="0">
                <a:solidFill>
                  <a:srgbClr val="FFFFFF"/>
                </a:solidFill>
              </a:rPr>
              <a:t>E+E / E+R / E+C fine-tuning on frozen TRAIN/DEV; one confirmatory FINAL_TEST run</a:t>
            </a:r>
            <a:endParaRPr lang="en-US" sz="1800" dirty="0"/>
          </a:p>
        </p:txBody>
      </p:sp>
      <p:sp>
        <p:nvSpPr>
          <p:cNvPr id="14" name="Shape 12"/>
          <p:cNvSpPr/>
          <p:nvPr/>
        </p:nvSpPr>
        <p:spPr>
          <a:xfrm>
            <a:off x="6263640" y="4974336"/>
            <a:ext cx="201168" cy="201168"/>
          </a:xfrm>
          <a:prstGeom prst="ellipse">
            <a:avLst/>
          </a:prstGeom>
          <a:solidFill>
            <a:srgbClr val="E69F00"/>
          </a:solidFill>
          <a:ln w="12700">
            <a:solidFill>
              <a:srgbClr val="E69F00"/>
            </a:solidFill>
            <a:prstDash val="solid"/>
          </a:ln>
        </p:spPr>
      </p:sp>
      <p:sp>
        <p:nvSpPr>
          <p:cNvPr id="15" name="Text 13"/>
          <p:cNvSpPr txBox="1"/>
          <p:nvPr/>
        </p:nvSpPr>
        <p:spPr>
          <a:xfrm>
            <a:off x="6629400" y="4882896"/>
            <a:ext cx="5074920" cy="731520"/>
          </a:xfrm>
          <a:prstGeom prst="rect">
            <a:avLst/>
          </a:prstGeom>
          <a:noFill/>
          <a:ln/>
        </p:spPr>
        <p:txBody>
          <a:bodyPr wrap="square" lIns="0" tIns="0" rIns="0" bIns="0" rtlCol="0" anchor="t"/>
          <a:lstStyle/>
          <a:p>
            <a:pPr indent="0" marL="0">
              <a:buNone/>
            </a:pPr>
            <a:r>
              <a:rPr lang="en-US" sz="1800" b="1" dirty="0">
                <a:solidFill>
                  <a:srgbClr val="E69F00"/>
                </a:solidFill>
              </a:rPr>
              <a:t>Apr–May  </a:t>
            </a:r>
            <a:pPr indent="0" marL="0">
              <a:buNone/>
            </a:pPr>
            <a:r>
              <a:rPr lang="en-US" sz="1800" dirty="0">
                <a:solidFill>
                  <a:srgbClr val="FFFFFF"/>
                </a:solidFill>
              </a:rPr>
              <a:t>Analysis, thesis; training study for ARR May 2027 (date unconfirmed)</a:t>
            </a:r>
            <a:endParaRPr lang="en-US" sz="1800" dirty="0"/>
          </a:p>
        </p:txBody>
      </p:sp>
      <p:sp>
        <p:nvSpPr>
          <p:cNvPr id="16" name="Text 14"/>
          <p:cNvSpPr txBox="1"/>
          <p:nvPr/>
        </p:nvSpPr>
        <p:spPr>
          <a:xfrm>
            <a:off x="502920" y="5715000"/>
            <a:ext cx="11155680" cy="822960"/>
          </a:xfrm>
          <a:prstGeom prst="rect">
            <a:avLst/>
          </a:prstGeom>
          <a:noFill/>
          <a:ln/>
        </p:spPr>
        <p:txBody>
          <a:bodyPr wrap="square" lIns="0" tIns="0" rIns="0" bIns="0" rtlCol="0" anchor="t"/>
          <a:lstStyle/>
          <a:p>
            <a:pPr indent="0" marL="0">
              <a:buNone/>
            </a:pPr>
            <a:r>
              <a:rPr lang="en-US" sz="2000" i="1" dirty="0">
                <a:solidFill>
                  <a:srgbClr val="FFFFFF"/>
                </a:solidFill>
              </a:rPr>
              <a:t>Holding the maths fixed, small models lose accuracy on Romanized Hindi rather than on code-mixing, by a strongly model-specific amount; check answer formats on excluded data first.</a:t>
            </a:r>
            <a:endParaRPr lang="en-US" sz="2000" dirty="0"/>
          </a:p>
        </p:txBody>
      </p:sp>
      <p:sp>
        <p:nvSpPr>
          <p:cNvPr id="18" name="Text 0"/>
          <p:cNvSpPr/>
          <p:nvPr>
            <p:ph idx="100" type="title" hasCustomPrompt="1"/>
          </p:nvPr>
        </p:nvSpPr>
        <p:spPr>
          <a:xfrm>
            <a:off x="502920" y="1371600"/>
            <a:ext cx="11185855" cy="1828800"/>
          </a:xfrm>
          <a:prstGeom prst="rect">
            <a:avLst/>
          </a:prstGeom>
          <a:noFill/>
          <a:ln/>
        </p:spPr>
        <p:txBody>
          <a:bodyPr wrap="square" lIns="0" tIns="0" rIns="0" bIns="0" rtlCol="0" anchor="b"/>
          <a:lstStyle/>
          <a:p>
            <a:pPr algn="l" indent="0" marL="0">
              <a:buNone/>
            </a:pPr>
            <a:endParaRPr lang="en-US" sz="4000" dirty="0"/>
          </a:p>
        </p:txBody>
      </p:sp>
    </p:spTree>
  </p:cSld>
  <p:clrMapOvr>
    <a:masterClrMapping/>
  </p:clrMapOvr>
</p:sld>
</file>

<file path=ppt/theme/theme1.xml><?xml version="1.0" encoding="utf-8"?>
<a:theme xmlns:a="http://schemas.openxmlformats.org/drawingml/2006/main" name="Hinglish Audit">
  <a:themeElements>
    <a:clrScheme name="Hinglish Audit">
      <a:dk1>
        <a:srgbClr val="1E1E24"/>
      </a:dk1>
      <a:lt1>
        <a:srgbClr val="FFFFFF"/>
      </a:lt1>
      <a:dk2>
        <a:srgbClr val="1F2F4A"/>
      </a:dk2>
      <a:lt2>
        <a:srgbClr val="EEF2F7"/>
      </a:lt2>
      <a:accent1>
        <a:srgbClr val="0072B2"/>
      </a:accent1>
      <a:accent2>
        <a:srgbClr val="E69F00"/>
      </a:accent2>
      <a:accent3>
        <a:srgbClr val="009E73"/>
      </a:accent3>
      <a:accent4>
        <a:srgbClr val="D55E00"/>
      </a:accent4>
      <a:accent5>
        <a:srgbClr val="CC79A7"/>
      </a:accent5>
      <a:accent6>
        <a:srgbClr val="56B4E9"/>
      </a:accent6>
      <a:hlink>
        <a:srgbClr val="0072B2"/>
      </a:hlink>
      <a:folHlink>
        <a:srgbClr val="6A3D9A"/>
      </a:folHlink>
    </a:clrScheme>
    <a:fontScheme name="Hinglish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Romanized Hindi Is Harder Than Hinglish: A Scoring-Aware Audit of Small LLMs</dc:title>
  <dc:subject>Minor project evaluation, November 2026</dc:subject>
  <dc:creator>PptxGenJS</dc:creator>
  <cp:lastModifiedBy>PptxGenJS</cp:lastModifiedBy>
  <cp:revision>1</cp:revision>
  <dcterms:created xsi:type="dcterms:W3CDTF">2026-10-27T16:53:18Z</dcterms:created>
  <dcterms:modified xsi:type="dcterms:W3CDTF">2026-10-27T16:53:18Z</dcterms:modified>
</cp:coreProperties>
</file>